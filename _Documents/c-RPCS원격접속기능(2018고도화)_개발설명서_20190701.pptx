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2" r:id="rId1"/>
    <p:sldMasterId id="2147483739" r:id="rId2"/>
  </p:sldMasterIdLst>
  <p:notesMasterIdLst>
    <p:notesMasterId r:id="rId10"/>
  </p:notesMasterIdLst>
  <p:handoutMasterIdLst>
    <p:handoutMasterId r:id="rId11"/>
  </p:handoutMasterIdLst>
  <p:sldIdLst>
    <p:sldId id="1452" r:id="rId3"/>
    <p:sldId id="1449" r:id="rId4"/>
    <p:sldId id="1450" r:id="rId5"/>
    <p:sldId id="1446" r:id="rId6"/>
    <p:sldId id="1447" r:id="rId7"/>
    <p:sldId id="1448" r:id="rId8"/>
    <p:sldId id="1451" r:id="rId9"/>
  </p:sldIdLst>
  <p:sldSz cx="11522075" cy="7921625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1pPr>
    <a:lvl2pPr marL="4572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2pPr>
    <a:lvl3pPr marL="9144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3pPr>
    <a:lvl4pPr marL="13716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4pPr>
    <a:lvl5pPr marL="1828800" algn="l" rtl="0" fontAlgn="base" latinLnBrk="1">
      <a:spcBef>
        <a:spcPct val="0"/>
      </a:spcBef>
      <a:spcAft>
        <a:spcPct val="0"/>
      </a:spcAft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5pPr>
    <a:lvl6pPr marL="2286000" algn="l" defTabSz="914400" rtl="0" eaLnBrk="1" latinLnBrk="1" hangingPunct="1"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6pPr>
    <a:lvl7pPr marL="2743200" algn="l" defTabSz="914400" rtl="0" eaLnBrk="1" latinLnBrk="1" hangingPunct="1"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7pPr>
    <a:lvl8pPr marL="3200400" algn="l" defTabSz="914400" rtl="0" eaLnBrk="1" latinLnBrk="1" hangingPunct="1"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8pPr>
    <a:lvl9pPr marL="3657600" algn="l" defTabSz="914400" rtl="0" eaLnBrk="1" latinLnBrk="1" hangingPunct="1">
      <a:defRPr kumimoji="1" sz="900" kern="1200">
        <a:solidFill>
          <a:schemeClr val="bg1"/>
        </a:solidFill>
        <a:latin typeface="굴림" pitchFamily="50" charset="-127"/>
        <a:ea typeface="굴림" pitchFamily="50" charset="-127"/>
        <a:cs typeface="+mn-cs"/>
        <a:sym typeface="Gill Sans"/>
      </a:defRPr>
    </a:lvl9pPr>
  </p:defaultTextStyle>
  <p:extLst>
    <p:ext uri="{EFAFB233-063F-42B5-8137-9DF3F51BA10A}">
      <p15:sldGuideLst xmlns="" xmlns:p15="http://schemas.microsoft.com/office/powerpoint/2012/main">
        <p15:guide id="1" orient="horz">
          <p15:clr>
            <a:srgbClr val="A4A3A4"/>
          </p15:clr>
        </p15:guide>
        <p15:guide id="2" orient="horz" pos="2495">
          <p15:clr>
            <a:srgbClr val="A4A3A4"/>
          </p15:clr>
        </p15:guide>
        <p15:guide id="3">
          <p15:clr>
            <a:srgbClr val="A4A3A4"/>
          </p15:clr>
        </p15:guide>
        <p15:guide id="4" pos="3629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27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FBFB8D"/>
    <a:srgbClr val="89CD9E"/>
    <a:srgbClr val="FFFF99"/>
    <a:srgbClr val="89A3A4"/>
    <a:srgbClr val="FB5105"/>
    <a:srgbClr val="7D86AB"/>
    <a:srgbClr val="474E6D"/>
    <a:srgbClr val="13151D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87" autoAdjust="0"/>
    <p:restoredTop sz="93123" autoAdjust="0"/>
  </p:normalViewPr>
  <p:slideViewPr>
    <p:cSldViewPr>
      <p:cViewPr>
        <p:scale>
          <a:sx n="100" d="100"/>
          <a:sy n="100" d="100"/>
        </p:scale>
        <p:origin x="-162" y="216"/>
      </p:cViewPr>
      <p:guideLst>
        <p:guide orient="horz"/>
        <p:guide orient="horz" pos="2450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888"/>
    </p:cViewPr>
  </p:sorterViewPr>
  <p:notesViewPr>
    <p:cSldViewPr>
      <p:cViewPr varScale="1">
        <p:scale>
          <a:sx n="56" d="100"/>
          <a:sy n="56" d="100"/>
        </p:scale>
        <p:origin x="-2316" y="-84"/>
      </p:cViewPr>
      <p:guideLst>
        <p:guide orient="horz" pos="3127"/>
        <p:guide pos="214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134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t" anchorCtr="0" compatLnSpc="1">
            <a:prstTxWarp prst="textNoShape">
              <a:avLst/>
            </a:prstTxWarp>
          </a:bodyPr>
          <a:lstStyle>
            <a:lvl1pPr algn="l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956" y="1"/>
            <a:ext cx="2946134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t" anchorCtr="0" compatLnSpc="1">
            <a:prstTxWarp prst="textNoShape">
              <a:avLst/>
            </a:prstTxWarp>
          </a:bodyPr>
          <a:lstStyle>
            <a:lvl1pPr algn="r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28801"/>
            <a:ext cx="2946134" cy="49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b" anchorCtr="0" compatLnSpc="1">
            <a:prstTxWarp prst="textNoShape">
              <a:avLst/>
            </a:prstTxWarp>
          </a:bodyPr>
          <a:lstStyle>
            <a:lvl1pPr algn="l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956" y="9428801"/>
            <a:ext cx="2946134" cy="49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b" anchorCtr="0" compatLnSpc="1">
            <a:prstTxWarp prst="textNoShape">
              <a:avLst/>
            </a:prstTxWarp>
          </a:bodyPr>
          <a:lstStyle>
            <a:lvl1pPr algn="r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fld id="{97D94FCB-B5A8-4D6A-9275-DBA8DB8B986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884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134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t" anchorCtr="0" compatLnSpc="1">
            <a:prstTxWarp prst="textNoShape">
              <a:avLst/>
            </a:prstTxWarp>
          </a:bodyPr>
          <a:lstStyle>
            <a:lvl1pPr algn="l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542" y="1"/>
            <a:ext cx="2944549" cy="496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t" anchorCtr="0" compatLnSpc="1">
            <a:prstTxWarp prst="textNoShape">
              <a:avLst/>
            </a:prstTxWarp>
          </a:bodyPr>
          <a:lstStyle>
            <a:lvl1pPr algn="r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692150" y="744538"/>
            <a:ext cx="541337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0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245" y="4715194"/>
            <a:ext cx="5438774" cy="4466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150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801"/>
            <a:ext cx="2946134" cy="49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b" anchorCtr="0" compatLnSpc="1">
            <a:prstTxWarp prst="textNoShape">
              <a:avLst/>
            </a:prstTxWarp>
          </a:bodyPr>
          <a:lstStyle>
            <a:lvl1pPr algn="l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50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542" y="9428801"/>
            <a:ext cx="2944549" cy="49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11" tIns="45656" rIns="91311" bIns="45656" numCol="1" anchor="b" anchorCtr="0" compatLnSpc="1">
            <a:prstTxWarp prst="textNoShape">
              <a:avLst/>
            </a:prstTxWarp>
          </a:bodyPr>
          <a:lstStyle>
            <a:lvl1pPr algn="r" latinLnBrk="0">
              <a:buClrTx/>
              <a:buSzTx/>
              <a:buFontTx/>
              <a:buNone/>
              <a:defRPr kumimoji="0" sz="1200">
                <a:solidFill>
                  <a:schemeClr val="tx1"/>
                </a:solidFill>
                <a:latin typeface="Gill Sans" pitchFamily="34" charset="0"/>
                <a:ea typeface="굴림" pitchFamily="50" charset="-127"/>
                <a:sym typeface="Gill Sans" pitchFamily="34" charset="0"/>
              </a:defRPr>
            </a:lvl1pPr>
          </a:lstStyle>
          <a:p>
            <a:pPr>
              <a:defRPr/>
            </a:pPr>
            <a:fld id="{DCE95D73-334E-43E1-B409-07F690377807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170591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htons</a:t>
            </a:r>
            <a:r>
              <a:rPr lang="en-US" altLang="ko-KR" dirty="0" smtClean="0"/>
              <a:t>(host</a:t>
            </a:r>
            <a:r>
              <a:rPr lang="en-US" altLang="ko-KR" baseline="0" dirty="0" smtClean="0"/>
              <a:t> byte order to network byte order short)</a:t>
            </a:r>
          </a:p>
          <a:p>
            <a:pPr marL="0" marR="0" indent="0" algn="l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 smtClean="0"/>
              <a:t>htonl</a:t>
            </a:r>
            <a:r>
              <a:rPr lang="en-US" altLang="ko-KR" dirty="0" smtClean="0"/>
              <a:t>(host</a:t>
            </a:r>
            <a:r>
              <a:rPr lang="en-US" altLang="ko-KR" baseline="0" dirty="0" smtClean="0"/>
              <a:t> byte order to network byte order long)</a:t>
            </a:r>
            <a:endParaRPr lang="en-US" altLang="ko-KR" baseline="0" dirty="0" smtClean="0"/>
          </a:p>
          <a:p>
            <a:r>
              <a:rPr lang="ko-KR" altLang="en-US" baseline="0" dirty="0" smtClean="0"/>
              <a:t>메모리 저장방식</a:t>
            </a:r>
            <a:r>
              <a:rPr lang="en-US" altLang="ko-KR" baseline="0" dirty="0" smtClean="0"/>
              <a:t>: Network=big endian(</a:t>
            </a:r>
            <a:r>
              <a:rPr lang="ko-KR" altLang="en-US" baseline="0" dirty="0" smtClean="0"/>
              <a:t>거꾸로</a:t>
            </a:r>
            <a:r>
              <a:rPr lang="en-US" altLang="ko-KR" baseline="0" dirty="0" smtClean="0"/>
              <a:t>) / HOST(INTEL,AMD)=little endian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CE95D73-334E-43E1-B409-07F690377807}" type="slidenum">
              <a:rPr lang="ko-KR" altLang="en-US" smtClean="0"/>
              <a:pPr>
                <a:defRPr/>
              </a:pPr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8891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7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65714058"/>
              </p:ext>
            </p:extLst>
          </p:nvPr>
        </p:nvGraphicFramePr>
        <p:xfrm>
          <a:off x="316935" y="217899"/>
          <a:ext cx="10888209" cy="7319477"/>
        </p:xfrm>
        <a:graphic>
          <a:graphicData uri="http://schemas.openxmlformats.org/drawingml/2006/table">
            <a:tbl>
              <a:tblPr/>
              <a:tblGrid>
                <a:gridCol w="10888209"/>
              </a:tblGrid>
              <a:tr h="15803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UI Gothic" pitchFamily="34" charset="-128"/>
                        <a:ea typeface="MS UI Gothic" pitchFamily="34" charset="-128"/>
                      </a:endParaRPr>
                    </a:p>
                  </a:txBody>
                  <a:tcPr marL="115221" marR="115221" marT="52811" marB="528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403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UI Gothic" pitchFamily="34" charset="-128"/>
                        <a:ea typeface="MS UI Gothic" pitchFamily="34" charset="-128"/>
                      </a:endParaRPr>
                    </a:p>
                  </a:txBody>
                  <a:tcPr marL="115221" marR="115221" marT="52811" marB="528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987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UI Gothic" pitchFamily="34" charset="-128"/>
                        <a:ea typeface="MS UI Gothic" pitchFamily="34" charset="-128"/>
                      </a:endParaRPr>
                    </a:p>
                  </a:txBody>
                  <a:tcPr marL="115221" marR="115221" marT="52811" marB="5281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내용 개체 틀 4"/>
          <p:cNvSpPr>
            <a:spLocks noGrp="1"/>
          </p:cNvSpPr>
          <p:nvPr>
            <p:ph sz="quarter" idx="10"/>
          </p:nvPr>
        </p:nvSpPr>
        <p:spPr>
          <a:xfrm>
            <a:off x="316057" y="1820876"/>
            <a:ext cx="10889961" cy="581285"/>
          </a:xfrm>
          <a:prstGeom prst="rect">
            <a:avLst/>
          </a:prstGeom>
        </p:spPr>
        <p:txBody>
          <a:bodyPr lIns="106052" tIns="53026" rIns="106052" bIns="53026" anchor="ctr"/>
          <a:lstStyle>
            <a:lvl1pPr marL="0" indent="0" algn="ctr">
              <a:buNone/>
              <a:defRPr sz="3200" b="1">
                <a:latin typeface="맑은 고딕" pitchFamily="50" charset="-127"/>
                <a:ea typeface="맑은 고딕" pitchFamily="50" charset="-127"/>
              </a:defRPr>
            </a:lvl1pPr>
            <a:lvl2pPr marL="530261" indent="0">
              <a:buNone/>
              <a:defRPr sz="3200" b="1">
                <a:latin typeface="맑은 고딕" pitchFamily="50" charset="-127"/>
                <a:ea typeface="맑은 고딕" pitchFamily="50" charset="-127"/>
              </a:defRPr>
            </a:lvl2pPr>
            <a:lvl3pPr marL="1060521" indent="0">
              <a:buNone/>
              <a:defRPr sz="3200" b="1">
                <a:latin typeface="맑은 고딕" pitchFamily="50" charset="-127"/>
                <a:ea typeface="맑은 고딕" pitchFamily="50" charset="-127"/>
              </a:defRPr>
            </a:lvl3pPr>
            <a:lvl4pPr marL="1590782" indent="0">
              <a:buNone/>
              <a:defRPr sz="3200" b="1">
                <a:latin typeface="맑은 고딕" pitchFamily="50" charset="-127"/>
                <a:ea typeface="맑은 고딕" pitchFamily="50" charset="-127"/>
              </a:defRPr>
            </a:lvl4pPr>
            <a:lvl5pPr marL="2121042" indent="0">
              <a:buNone/>
              <a:defRPr sz="32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23499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2425" y="144388"/>
            <a:ext cx="9145016" cy="39974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TextBox 2"/>
          <p:cNvSpPr txBox="1">
            <a:spLocks noChangeArrowheads="1"/>
          </p:cNvSpPr>
          <p:nvPr userDrawn="1"/>
        </p:nvSpPr>
        <p:spPr bwMode="auto">
          <a:xfrm>
            <a:off x="9613465" y="7541467"/>
            <a:ext cx="152201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- </a:t>
            </a:r>
            <a:fld id="{0B85316D-19E4-47D9-AC04-1B4D47FE9DA4}" type="slidenum">
              <a:rPr lang="en-US" altLang="ko-KR" sz="1400" b="1" smtClean="0"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pPr algn="r" eaLnBrk="1" hangingPunct="1">
                <a:defRPr/>
              </a:pPr>
              <a:t>‹#›</a:t>
            </a:fld>
            <a:r>
              <a:rPr lang="en-US" altLang="ko-KR" sz="1400" b="1" dirty="0" smtClean="0">
                <a:latin typeface="맑은 고딕" pitchFamily="50" charset="-127"/>
                <a:ea typeface="맑은 고딕" pitchFamily="50" charset="-127"/>
                <a:cs typeface="Arial Unicode MS" pitchFamily="50" charset="-127"/>
              </a:rPr>
              <a:t> - </a:t>
            </a:r>
            <a:endParaRPr lang="ko-KR" altLang="en-US" sz="1400" b="1" dirty="0" smtClean="0">
              <a:latin typeface="맑은 고딕" pitchFamily="50" charset="-127"/>
              <a:ea typeface="맑은 고딕" pitchFamily="50" charset="-127"/>
              <a:cs typeface="Arial Unicode MS" pitchFamily="50" charset="-127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108409" y="7541467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Last updated:</a:t>
            </a:r>
            <a:endParaRPr lang="ko-KR" altLang="en-US" sz="1000" b="1" i="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9" hasCustomPrompt="1"/>
          </p:nvPr>
        </p:nvSpPr>
        <p:spPr>
          <a:xfrm>
            <a:off x="1099813" y="7541467"/>
            <a:ext cx="1230137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0" baseline="0"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2pPr>
            <a:lvl3pPr marL="9144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3pPr>
            <a:lvl4pPr marL="13716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4pPr>
            <a:lvl5pPr marL="18288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en-US" altLang="ko-KR" smtClean="0"/>
              <a:t>YYYY/MM/DD</a:t>
            </a:r>
            <a:endParaRPr lang="ko-KR" altLang="en-US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8409" y="7541467"/>
            <a:ext cx="10150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i="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Last updated:</a:t>
            </a:r>
            <a:endParaRPr lang="ko-KR" altLang="en-US" sz="1000" b="1" i="0" dirty="0" smtClean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텍스트 개체 틀 2"/>
          <p:cNvSpPr>
            <a:spLocks noGrp="1"/>
          </p:cNvSpPr>
          <p:nvPr>
            <p:ph type="body" sz="quarter" idx="19" hasCustomPrompt="1"/>
          </p:nvPr>
        </p:nvSpPr>
        <p:spPr>
          <a:xfrm>
            <a:off x="1099813" y="7541467"/>
            <a:ext cx="1230137" cy="25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0" baseline="0"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2pPr>
            <a:lvl3pPr marL="9144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3pPr>
            <a:lvl4pPr marL="13716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4pPr>
            <a:lvl5pPr marL="1828800" indent="0">
              <a:buNone/>
              <a:defRPr sz="1200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en-US" altLang="ko-KR" smtClean="0"/>
              <a:t>YYYY/MM/DD</a:t>
            </a:r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3620040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2425" y="144388"/>
            <a:ext cx="7668852" cy="399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6052" tIns="53026" rIns="106052" bIns="5302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Header Ling (</a:t>
            </a:r>
            <a:r>
              <a:rPr lang="ko-KR" altLang="en-US" smtClean="0"/>
              <a:t>맑은고딕</a:t>
            </a:r>
            <a:r>
              <a:rPr lang="en-US" altLang="ko-KR" smtClean="0"/>
              <a:t>, English-Arial Font 16) </a:t>
            </a:r>
          </a:p>
        </p:txBody>
      </p:sp>
      <p:sp>
        <p:nvSpPr>
          <p:cNvPr id="3934214" name="Rectangle 6"/>
          <p:cNvSpPr>
            <a:spLocks noChangeArrowheads="1"/>
          </p:cNvSpPr>
          <p:nvPr userDrawn="1"/>
        </p:nvSpPr>
        <p:spPr bwMode="ltGray">
          <a:xfrm>
            <a:off x="5596701" y="7536546"/>
            <a:ext cx="332368" cy="330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62713" tIns="62713" rIns="62713" bIns="62713" anchor="ctr"/>
          <a:lstStyle/>
          <a:p>
            <a:pPr defTabSz="1062363" eaLnBrk="0" latinLnBrk="0" hangingPunct="0">
              <a:defRPr/>
            </a:pPr>
            <a:endParaRPr kumimoji="0" lang="en-GB" altLang="ko-KR" sz="1400" b="1" dirty="0">
              <a:solidFill>
                <a:srgbClr val="3333CC"/>
              </a:solidFill>
              <a:latin typeface="Optima" pitchFamily="34" charset="0"/>
              <a:ea typeface="가는각진제목체" pitchFamily="18" charset="-127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6891088" y="7578723"/>
            <a:ext cx="3609881" cy="265887"/>
          </a:xfrm>
          <a:prstGeom prst="rect">
            <a:avLst/>
          </a:prstGeom>
          <a:noFill/>
        </p:spPr>
        <p:txBody>
          <a:bodyPr lIns="106052" tIns="53026" rIns="106052" bIns="53026">
            <a:spAutoFit/>
          </a:bodyPr>
          <a:lstStyle/>
          <a:p>
            <a:pPr algn="r">
              <a:defRPr/>
            </a:pPr>
            <a:r>
              <a:rPr lang="ko-KR" altLang="en-US" sz="1000" dirty="0" smtClean="0">
                <a:latin typeface="+mn-ea"/>
                <a:ea typeface="+mn-ea"/>
              </a:rPr>
              <a:t>윤두석</a:t>
            </a:r>
            <a:r>
              <a:rPr lang="en-US" altLang="ko-KR" sz="1000" dirty="0" smtClean="0">
                <a:latin typeface="+mn-ea"/>
                <a:ea typeface="+mn-ea"/>
              </a:rPr>
              <a:t>/ Network</a:t>
            </a:r>
            <a:r>
              <a:rPr lang="ko-KR" altLang="en-US" sz="1000" dirty="0" smtClean="0">
                <a:latin typeface="+mn-ea"/>
                <a:ea typeface="+mn-ea"/>
              </a:rPr>
              <a:t>관리센터 </a:t>
            </a:r>
            <a:r>
              <a:rPr lang="en-US" altLang="ko-KR" sz="1000" dirty="0">
                <a:latin typeface="+mn-ea"/>
                <a:ea typeface="+mn-ea"/>
              </a:rPr>
              <a:t>/ </a:t>
            </a:r>
            <a:r>
              <a:rPr lang="en-US" altLang="ko-KR" sz="1000" dirty="0" smtClean="0">
                <a:latin typeface="+mn-ea"/>
                <a:ea typeface="+mn-ea"/>
              </a:rPr>
              <a:t>010-5004-0053</a:t>
            </a:r>
            <a:endParaRPr lang="ko-KR" altLang="en-US" sz="1000" dirty="0">
              <a:latin typeface="+mn-ea"/>
              <a:ea typeface="+mn-ea"/>
            </a:endParaRPr>
          </a:p>
        </p:txBody>
      </p:sp>
      <p:sp>
        <p:nvSpPr>
          <p:cNvPr id="13" name="TextBox 12"/>
          <p:cNvSpPr txBox="1"/>
          <p:nvPr userDrawn="1"/>
        </p:nvSpPr>
        <p:spPr>
          <a:xfrm>
            <a:off x="10857340" y="7578723"/>
            <a:ext cx="891854" cy="265887"/>
          </a:xfrm>
          <a:prstGeom prst="rect">
            <a:avLst/>
          </a:prstGeom>
          <a:noFill/>
        </p:spPr>
        <p:txBody>
          <a:bodyPr lIns="106052" tIns="53026" rIns="106052" bIns="53026">
            <a:spAutoFit/>
          </a:bodyPr>
          <a:lstStyle/>
          <a:p>
            <a:pPr algn="l"/>
            <a:fld id="{68E9DF72-591E-47B8-9224-9C980CBC48D0}" type="slidenum">
              <a:rPr lang="ko-KR" altLang="en-US" sz="1000" b="1">
                <a:latin typeface="맑은 고딕" pitchFamily="50" charset="-127"/>
                <a:ea typeface="맑은 고딕" pitchFamily="50" charset="-127"/>
              </a:rPr>
              <a:pPr algn="l"/>
              <a:t>‹#›</a:t>
            </a:fld>
            <a:endParaRPr lang="en-US" altLang="ko-KR" sz="1000" b="1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10"/>
          <p:cNvCxnSpPr/>
          <p:nvPr userDrawn="1"/>
        </p:nvCxnSpPr>
        <p:spPr bwMode="auto">
          <a:xfrm>
            <a:off x="252425" y="540432"/>
            <a:ext cx="1090921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6" r:id="rId2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맑은 고딕" pitchFamily="50" charset="-127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맑은 고딕" pitchFamily="50" charset="-127"/>
          <a:ea typeface="맑은 고딕" pitchFamily="50" charset="-127"/>
        </a:defRPr>
      </a:lvl5pPr>
      <a:lvl6pPr marL="530261" algn="l" rtl="0" fontAlgn="base" latinLnBrk="1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굴림" pitchFamily="50" charset="-127"/>
          <a:ea typeface="굴림" pitchFamily="50" charset="-127"/>
        </a:defRPr>
      </a:lvl6pPr>
      <a:lvl7pPr marL="1060521" algn="l" rtl="0" fontAlgn="base" latinLnBrk="1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굴림" pitchFamily="50" charset="-127"/>
          <a:ea typeface="굴림" pitchFamily="50" charset="-127"/>
        </a:defRPr>
      </a:lvl7pPr>
      <a:lvl8pPr marL="1590782" algn="l" rtl="0" fontAlgn="base" latinLnBrk="1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굴림" pitchFamily="50" charset="-127"/>
          <a:ea typeface="굴림" pitchFamily="50" charset="-127"/>
        </a:defRPr>
      </a:lvl8pPr>
      <a:lvl9pPr marL="2121042" algn="l" rtl="0" fontAlgn="base" latinLnBrk="1">
        <a:spcBef>
          <a:spcPct val="0"/>
        </a:spcBef>
        <a:spcAft>
          <a:spcPct val="0"/>
        </a:spcAft>
        <a:defRPr kumimoji="1" sz="1900" b="1">
          <a:solidFill>
            <a:srgbClr val="000000"/>
          </a:solidFill>
          <a:latin typeface="굴림" pitchFamily="50" charset="-127"/>
          <a:ea typeface="굴림" pitchFamily="50" charset="-127"/>
        </a:defRPr>
      </a:lvl9pPr>
    </p:titleStyle>
    <p:bodyStyle>
      <a:lvl1pPr marL="208054" indent="-208054" algn="l" rtl="0" eaLnBrk="0" fontAlgn="base" latinLnBrk="1" hangingPunct="0">
        <a:spcBef>
          <a:spcPct val="20000"/>
        </a:spcBef>
        <a:spcAft>
          <a:spcPct val="0"/>
        </a:spcAft>
        <a:buSzPct val="70000"/>
        <a:buFont typeface="Wingdings" pitchFamily="2" charset="2"/>
        <a:defRPr kumimoji="1" sz="1600" b="1">
          <a:solidFill>
            <a:schemeClr val="tx1"/>
          </a:solidFill>
          <a:latin typeface="맑은 고딕" pitchFamily="50" charset="-127"/>
          <a:ea typeface="+mn-ea"/>
          <a:cs typeface="+mn-cs"/>
        </a:defRPr>
      </a:lvl1pPr>
      <a:lvl2pPr marL="513690" indent="-9758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>
          <a:solidFill>
            <a:schemeClr val="tx1"/>
          </a:solidFill>
          <a:latin typeface="+mn-lt"/>
          <a:ea typeface="+mn-ea"/>
        </a:defRPr>
      </a:lvl2pPr>
      <a:lvl3pPr marL="940845" indent="-110471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+mn-lt"/>
          <a:ea typeface="+mn-ea"/>
        </a:defRPr>
      </a:lvl3pPr>
      <a:lvl4pPr marL="1454534" indent="-208054" algn="l" rtl="0" eaLnBrk="0" fontAlgn="base" latinLnBrk="1" hangingPunct="0">
        <a:spcBef>
          <a:spcPct val="20000"/>
        </a:spcBef>
        <a:spcAft>
          <a:spcPct val="0"/>
        </a:spcAft>
        <a:buFont typeface="Optima" pitchFamily="2" charset="2"/>
        <a:buChar char=""/>
        <a:defRPr kumimoji="1" sz="1400">
          <a:solidFill>
            <a:schemeClr val="tx1"/>
          </a:solidFill>
          <a:latin typeface="+mn-lt"/>
          <a:ea typeface="+mn-ea"/>
        </a:defRPr>
      </a:lvl4pPr>
      <a:lvl5pPr marL="2386173" indent="-26513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5pPr>
      <a:lvl6pPr marL="2916433" indent="-26513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6pPr>
      <a:lvl7pPr marL="3446694" indent="-26513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7pPr>
      <a:lvl8pPr marL="3976954" indent="-26513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8pPr>
      <a:lvl9pPr marL="4507215" indent="-265130" algn="l" rtl="0" fontAlgn="base" latinLnBrk="1">
        <a:spcBef>
          <a:spcPct val="20000"/>
        </a:spcBef>
        <a:spcAft>
          <a:spcPct val="0"/>
        </a:spcAft>
        <a:buChar char="»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0261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0521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90782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21042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51303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81563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11824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42084" algn="l" defTabSz="1060521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76263" y="317500"/>
            <a:ext cx="10369550" cy="1319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76263" y="1847850"/>
            <a:ext cx="10369550" cy="5229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76263" y="7342188"/>
            <a:ext cx="2687637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4CBD6-52B5-4E05-903E-524A821C86F6}" type="datetimeFigureOut">
              <a:rPr lang="ko-KR" altLang="en-US" smtClean="0"/>
              <a:t>2019-07-01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937000" y="7342188"/>
            <a:ext cx="3648075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258175" y="7342188"/>
            <a:ext cx="2687638" cy="422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B75439-D429-4180-817C-27D19D2147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503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TACT </a:t>
            </a:r>
            <a:r>
              <a:rPr lang="ko-KR" altLang="en-US" dirty="0" smtClean="0"/>
              <a:t>개발설명서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 bwMode="auto">
          <a:xfrm>
            <a:off x="3054145" y="2727384"/>
            <a:ext cx="540090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algn="ctr" eaLnBrk="0" hangingPunct="0">
              <a:spcBef>
                <a:spcPct val="20000"/>
              </a:spcBef>
              <a:buSzPct val="70000"/>
            </a:pPr>
            <a:r>
              <a:rPr lang="ko-KR" altLang="en-US" sz="1800" b="1" dirty="0" err="1" smtClean="0">
                <a:solidFill>
                  <a:schemeClr val="tx1"/>
                </a:solidFill>
                <a:latin typeface="+mn-ea"/>
                <a:ea typeface="+mn-ea"/>
              </a:rPr>
              <a:t>프로젝트명</a:t>
            </a:r>
            <a:r>
              <a:rPr lang="en-US" altLang="ko-KR" sz="1800" b="1" dirty="0" smtClean="0">
                <a:solidFill>
                  <a:schemeClr val="tx1"/>
                </a:solidFill>
                <a:latin typeface="+mn-ea"/>
                <a:ea typeface="+mn-ea"/>
              </a:rPr>
              <a:t>: 18FACT</a:t>
            </a:r>
            <a:r>
              <a:rPr lang="ko-KR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고도화</a:t>
            </a:r>
            <a:r>
              <a:rPr lang="en-US" altLang="ko-KR" sz="1800" b="1" dirty="0">
                <a:solidFill>
                  <a:schemeClr val="tx1"/>
                </a:solidFill>
                <a:latin typeface="+mn-ea"/>
                <a:ea typeface="+mn-ea"/>
              </a:rPr>
              <a:t>(c-RPCS </a:t>
            </a:r>
            <a:r>
              <a:rPr lang="ko-KR" altLang="en-US" sz="1800" b="1" dirty="0">
                <a:solidFill>
                  <a:schemeClr val="tx1"/>
                </a:solidFill>
                <a:latin typeface="+mn-ea"/>
                <a:ea typeface="+mn-ea"/>
              </a:rPr>
              <a:t>원격접속기능</a:t>
            </a:r>
            <a:r>
              <a:rPr lang="en-US" altLang="ko-KR" sz="1800" b="1" dirty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endParaRPr kumimoji="1" lang="ko-KR" alt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4351904" y="4968924"/>
            <a:ext cx="2805384" cy="63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sz="1600" b="1" noProof="0" dirty="0" smtClean="0">
                <a:solidFill>
                  <a:schemeClr val="tx1"/>
                </a:solidFill>
                <a:latin typeface="+mn-ea"/>
                <a:ea typeface="+mn-ea"/>
              </a:rPr>
              <a:t>Create Date: 2019.03.04</a:t>
            </a: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sz="1600" b="1" dirty="0" smtClean="0">
                <a:solidFill>
                  <a:schemeClr val="tx1"/>
                </a:solidFill>
                <a:latin typeface="+mn-ea"/>
                <a:ea typeface="+mn-ea"/>
              </a:rPr>
              <a:t>Updated Date: </a:t>
            </a:r>
            <a:r>
              <a:rPr lang="en-US" altLang="ko-KR" sz="1600" b="1" noProof="0" dirty="0" smtClean="0">
                <a:solidFill>
                  <a:schemeClr val="tx1"/>
                </a:solidFill>
                <a:latin typeface="+mn-ea"/>
                <a:ea typeface="+mn-ea"/>
              </a:rPr>
              <a:t> 2019.07.01</a:t>
            </a:r>
            <a:endParaRPr kumimoji="1" lang="ko-KR" altLang="en-US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2453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직사각형 88"/>
          <p:cNvSpPr/>
          <p:nvPr/>
        </p:nvSpPr>
        <p:spPr bwMode="auto">
          <a:xfrm>
            <a:off x="6157280" y="3078281"/>
            <a:ext cx="2025667" cy="1156551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b="1" dirty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PODS-DB/FTP</a:t>
            </a:r>
            <a:r>
              <a:rPr kumimoji="0" lang="en-US" altLang="ko-KR" b="1" dirty="0">
                <a:solidFill>
                  <a:prstClr val="black"/>
                </a:solidFill>
                <a:latin typeface="MS Shell Dlg 2" pitchFamily="34" charset="0"/>
                <a:cs typeface="MS Shell Dlg 2" pitchFamily="34" charset="0"/>
              </a:rPr>
              <a:t> Server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dirty="0">
                <a:solidFill>
                  <a:prstClr val="black"/>
                </a:solidFill>
                <a:latin typeface="MS Shell Dlg 2" pitchFamily="34" charset="0"/>
                <a:cs typeface="MS Shell Dlg 2" pitchFamily="34" charset="0"/>
              </a:rPr>
              <a:t>(118.217.79.44)</a:t>
            </a:r>
            <a:endParaRPr kumimoji="0" lang="en-US" altLang="ko-KR" dirty="0">
              <a:solidFill>
                <a:prstClr val="black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연동 </a:t>
            </a:r>
            <a:r>
              <a:rPr lang="ko-KR" altLang="en-US" dirty="0" smtClean="0"/>
              <a:t>데이터 흐름도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smtClean="0"/>
              <a:t>2019/07/01</a:t>
            </a:r>
            <a:endParaRPr lang="ko-KR" altLang="en-US" dirty="0"/>
          </a:p>
        </p:txBody>
      </p:sp>
      <p:cxnSp>
        <p:nvCxnSpPr>
          <p:cNvPr id="9" name="꺾인 연결선 8"/>
          <p:cNvCxnSpPr>
            <a:stCxn id="51" idx="0"/>
            <a:endCxn id="3074" idx="1"/>
          </p:cNvCxnSpPr>
          <p:nvPr/>
        </p:nvCxnSpPr>
        <p:spPr>
          <a:xfrm rot="5400000" flipH="1" flipV="1">
            <a:off x="2995905" y="3248813"/>
            <a:ext cx="2885637" cy="4022127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cxnSp>
        <p:nvCxnSpPr>
          <p:cNvPr id="10" name="꺾인 연결선 9"/>
          <p:cNvCxnSpPr/>
          <p:nvPr/>
        </p:nvCxnSpPr>
        <p:spPr>
          <a:xfrm rot="5400000" flipH="1" flipV="1">
            <a:off x="4346480" y="4645639"/>
            <a:ext cx="2808000" cy="1368000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2" name="직사각형 11"/>
          <p:cNvSpPr/>
          <p:nvPr/>
        </p:nvSpPr>
        <p:spPr bwMode="auto">
          <a:xfrm>
            <a:off x="1811417" y="6313743"/>
            <a:ext cx="1224851" cy="96773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kumimoji="0" lang="en-US" altLang="ko-KR" b="1" dirty="0" smtClean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RMS</a:t>
            </a:r>
          </a:p>
          <a:p>
            <a:pPr algn="ctr" latinLnBrk="0"/>
            <a:r>
              <a:rPr kumimoji="0" lang="en-US" altLang="ko-KR" dirty="0" smtClean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123.213.119.107</a:t>
            </a:r>
            <a:r>
              <a:rPr kumimoji="0" lang="en-US" altLang="ko-KR" dirty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endParaRPr lang="ko-KR" altLang="en-US" kern="0" dirty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4428889" y="6303516"/>
            <a:ext cx="1332000" cy="96773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kumimoji="0" lang="en-US" altLang="ko-KR" b="1" dirty="0" smtClean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[SKB] SWING</a:t>
            </a:r>
          </a:p>
          <a:p>
            <a:pPr algn="ctr" latinLnBrk="0"/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(218.39.31.21</a:t>
            </a:r>
            <a:r>
              <a:rPr kumimoji="0" lang="en-US" altLang="ko-KR" dirty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endParaRPr lang="ko-KR" altLang="en-US" kern="0" dirty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/>
          <p:nvPr/>
        </p:nvCxnSpPr>
        <p:spPr>
          <a:xfrm>
            <a:off x="1048915" y="2484033"/>
            <a:ext cx="6372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headEnd type="triangle"/>
            <a:tailEnd type="none"/>
          </a:ln>
          <a:effectLst/>
        </p:spPr>
      </p:cxnSp>
      <p:sp>
        <p:nvSpPr>
          <p:cNvPr id="21" name="Text Box 63"/>
          <p:cNvSpPr txBox="1">
            <a:spLocks noChangeArrowheads="1"/>
          </p:cNvSpPr>
          <p:nvPr/>
        </p:nvSpPr>
        <p:spPr bwMode="auto">
          <a:xfrm>
            <a:off x="9793485" y="1673101"/>
            <a:ext cx="756000" cy="37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/>
            <a:r>
              <a:rPr lang="en-US" altLang="ko-KR" sz="900" b="1" dirty="0" smtClean="0"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FACT-DB</a:t>
            </a:r>
          </a:p>
          <a:p>
            <a:pPr algn="ctr"/>
            <a:r>
              <a:rPr lang="en-US" altLang="ko-KR" sz="900" kern="0" dirty="0" smtClean="0"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(118.217.79.11)</a:t>
            </a:r>
            <a:endParaRPr lang="en-US" altLang="ko-KR" sz="900" dirty="0" smtClean="0"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631E7779-8D0E-43DE-A342-AC3EDB36EBD3}"/>
              </a:ext>
            </a:extLst>
          </p:cNvPr>
          <p:cNvGrpSpPr/>
          <p:nvPr/>
        </p:nvGrpSpPr>
        <p:grpSpPr>
          <a:xfrm>
            <a:off x="6934209" y="1680796"/>
            <a:ext cx="1248739" cy="979964"/>
            <a:chOff x="3828014" y="1489553"/>
            <a:chExt cx="1248739" cy="979964"/>
          </a:xfrm>
        </p:grpSpPr>
        <p:pic>
          <p:nvPicPr>
            <p:cNvPr id="23" name="Picture 11" descr="C:\Users\ecoffey\AppData\Local\Temp\Rar$DRa0.807\30035_Device_ibm_mainframe_default_64.png">
              <a:extLst>
                <a:ext uri="{FF2B5EF4-FFF2-40B4-BE49-F238E27FC236}">
                  <a16:creationId xmlns:a16="http://schemas.microsoft.com/office/drawing/2014/main" xmlns="" id="{A74D8046-717C-4BA3-BF02-F9D4E49AD1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8542" y="1981837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제목 1">
              <a:extLst>
                <a:ext uri="{FF2B5EF4-FFF2-40B4-BE49-F238E27FC236}">
                  <a16:creationId xmlns:a16="http://schemas.microsoft.com/office/drawing/2014/main" xmlns="" id="{19CBB4BA-7F68-4659-B414-EB53558D975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3828014" y="1489553"/>
              <a:ext cx="1248739" cy="415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 smtClean="0">
                  <a:solidFill>
                    <a:prstClr val="black"/>
                  </a:solidFill>
                  <a:latin typeface="MS Shell Dlg 2" pitchFamily="34" charset="0"/>
                  <a:ea typeface="MS Shell Dlg 2" pitchFamily="34" charset="0"/>
                  <a:cs typeface="MS Shell Dlg 2" pitchFamily="34" charset="0"/>
                </a:rPr>
                <a:t>KAM </a:t>
              </a:r>
              <a:r>
                <a:rPr kumimoji="0" lang="en-US" sz="900" b="1" dirty="0" smtClean="0">
                  <a:solidFill>
                    <a:prstClr val="black"/>
                  </a:solidFill>
                  <a:latin typeface="MS Shell Dlg 2" pitchFamily="34" charset="0"/>
                  <a:ea typeface="굴림" pitchFamily="50" charset="-127"/>
                  <a:cs typeface="MS Shell Dlg 2" pitchFamily="34" charset="0"/>
                </a:rPr>
                <a:t>Server</a:t>
              </a:r>
              <a:endParaRPr kumimoji="0" lang="en-US" altLang="ko-KR" sz="900" b="1" dirty="0" smtClean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dirty="0" smtClean="0">
                  <a:latin typeface="MS Shell Dlg 2" pitchFamily="34" charset="0"/>
                  <a:ea typeface="MS Shell Dlg 2" pitchFamily="34" charset="0"/>
                  <a:cs typeface="MS Shell Dlg 2" pitchFamily="34" charset="0"/>
                </a:rPr>
                <a:t>(118.217.79.23)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900" dirty="0" smtClean="0">
                  <a:latin typeface="MS Shell Dlg 2" pitchFamily="34" charset="0"/>
                  <a:ea typeface="MS Shell Dlg 2" pitchFamily="34" charset="0"/>
                  <a:cs typeface="MS Shell Dlg 2" pitchFamily="34" charset="0"/>
                </a:rPr>
                <a:t>catm1.skbroadband.com</a:t>
              </a:r>
              <a:endParaRPr kumimoji="0" lang="en-US" altLang="ko-KR" sz="900" dirty="0">
                <a:latin typeface="MS Shell Dlg 2" pitchFamily="34" charset="0"/>
                <a:ea typeface="MS Shell Dlg 2" pitchFamily="34" charset="0"/>
                <a:cs typeface="MS Shell Dlg 2" pitchFamily="34" charset="0"/>
              </a:endParaRPr>
            </a:p>
          </p:txBody>
        </p:sp>
      </p:grp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/>
          <p:nvPr/>
        </p:nvCxnSpPr>
        <p:spPr>
          <a:xfrm>
            <a:off x="1019850" y="2415366"/>
            <a:ext cx="6372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26" name="구름 25"/>
          <p:cNvSpPr/>
          <p:nvPr/>
        </p:nvSpPr>
        <p:spPr>
          <a:xfrm>
            <a:off x="1332545" y="2056794"/>
            <a:ext cx="1047082" cy="626196"/>
          </a:xfrm>
          <a:prstGeom prst="cloud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SKT </a:t>
            </a:r>
            <a:r>
              <a:rPr lang="en-US" altLang="ko-KR" sz="90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Cat.M1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망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algn="ctr"/>
            <a:r>
              <a:rPr lang="en-US" altLang="ko-KR" sz="90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IPv6</a:t>
            </a:r>
            <a:endParaRPr lang="ko-KR" altLang="en-US" sz="900" dirty="0">
              <a:solidFill>
                <a:schemeClr val="tx1"/>
              </a:solidFill>
              <a:latin typeface="MS Shell Dlg 2" pitchFamily="34" charset="0"/>
              <a:ea typeface="굴림" pitchFamily="50" charset="-127"/>
              <a:cs typeface="MS Shell Dlg 2" pitchFamily="34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>
            <a:stCxn id="23" idx="3"/>
          </p:cNvCxnSpPr>
          <p:nvPr/>
        </p:nvCxnSpPr>
        <p:spPr>
          <a:xfrm>
            <a:off x="7802417" y="2416920"/>
            <a:ext cx="2052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28" name="제목 1">
            <a:extLst>
              <a:ext uri="{FF2B5EF4-FFF2-40B4-BE49-F238E27FC236}">
                <a16:creationId xmlns:a16="http://schemas.microsoft.com/office/drawing/2014/main" xmlns="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8290299" y="2235727"/>
            <a:ext cx="759823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 smtClean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 </a:t>
            </a:r>
            <a:r>
              <a:rPr kumimoji="0" lang="ko-KR" altLang="en-US" sz="900" dirty="0" smtClean="0">
                <a:solidFill>
                  <a:prstClr val="black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정보 저장</a:t>
            </a:r>
            <a:endParaRPr kumimoji="0" lang="en-US" sz="900" dirty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xmlns="" id="{C100A6A0-3C65-408F-91B5-66C9A6DC64BA}"/>
              </a:ext>
            </a:extLst>
          </p:cNvPr>
          <p:cNvSpPr/>
          <p:nvPr/>
        </p:nvSpPr>
        <p:spPr>
          <a:xfrm>
            <a:off x="7292121" y="4605057"/>
            <a:ext cx="2484000" cy="230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itchFamily="2" charset="2"/>
              <a:buChar char="§"/>
            </a:pPr>
            <a:r>
              <a:rPr lang="en-US" altLang="ko-KR" sz="900" b="1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 </a:t>
            </a:r>
            <a:r>
              <a:rPr lang="ko-KR" altLang="en-US" sz="900" b="1" dirty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 </a:t>
            </a:r>
            <a:r>
              <a:rPr lang="ko-KR" altLang="en-US" sz="900" b="1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장애정보</a:t>
            </a: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감시시스템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ID(499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로 고정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발생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/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해제구분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발생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‘01’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로 고정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장애등급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(CRITICAL ’04’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로 고정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endParaRPr lang="en-US" altLang="ko-KR" sz="90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장애대분류코드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포트장애 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‘06 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고정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장애소분류코드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(RPCS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포트장애 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‘03’ 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고정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장애일시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lang="en-US" altLang="ko-KR" sz="90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yyyymmddHHMMSS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장비소속 센터코드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장비소속 국사코드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장비모델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ID</a:t>
            </a: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장비명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(TID)</a:t>
            </a: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IP</a:t>
            </a: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장비고유번호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80975" indent="-180975"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장애내용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80975" indent="-180975">
              <a:buFont typeface="+mj-lt"/>
              <a:buAutoNum type="arabicParenR"/>
            </a:pPr>
            <a:r>
              <a:rPr lang="en-US" altLang="ko-KR" sz="9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TE USIM</a:t>
            </a:r>
          </a:p>
          <a:p>
            <a:pPr marL="228600" indent="-228600">
              <a:buFont typeface="+mj-ea"/>
              <a:buAutoNum type="arabicParenR"/>
            </a:pPr>
            <a:r>
              <a:rPr lang="en-US" altLang="ko-KR" sz="9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 </a:t>
            </a:r>
            <a:r>
              <a:rPr lang="ko-KR" altLang="en-US" sz="9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최근 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수신시각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xmlns="" id="{ACDFFDBB-81EA-4933-B744-089A856F783A}"/>
              </a:ext>
            </a:extLst>
          </p:cNvPr>
          <p:cNvSpPr/>
          <p:nvPr/>
        </p:nvSpPr>
        <p:spPr>
          <a:xfrm>
            <a:off x="7292121" y="4365208"/>
            <a:ext cx="2484000" cy="24819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spcBef>
                <a:spcPts val="300"/>
              </a:spcBef>
            </a:pP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FTP://118.217.79.151:10821</a:t>
            </a:r>
            <a:endParaRPr lang="en-US" altLang="ko-KR" sz="90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39" name="모서리가 둥근 사각형 설명선 38"/>
          <p:cNvSpPr/>
          <p:nvPr/>
        </p:nvSpPr>
        <p:spPr bwMode="auto">
          <a:xfrm>
            <a:off x="7301393" y="6957496"/>
            <a:ext cx="2744120" cy="153233"/>
          </a:xfrm>
          <a:prstGeom prst="wedgeRoundRectCallout">
            <a:avLst>
              <a:gd name="adj1" fmla="val -39452"/>
              <a:gd name="adj2" fmla="val -20617"/>
              <a:gd name="adj3" fmla="val 16667"/>
            </a:avLst>
          </a:prstGeom>
          <a:solidFill>
            <a:srgbClr val="FBFB8D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1800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7313" marR="0" indent="-87313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매시</a:t>
            </a: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cs typeface="MS Shell Dlg 2" pitchFamily="34" charset="0"/>
              </a:rPr>
              <a:t>마다 </a:t>
            </a:r>
            <a:r>
              <a:rPr kumimoji="1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cs typeface="MS Shell Dlg 2" pitchFamily="34" charset="0"/>
              </a:rPr>
              <a:t>KAM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장애 조회하여 </a:t>
            </a: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FOMS FTP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로 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업로드</a:t>
            </a:r>
            <a:endParaRPr lang="en-US" altLang="ko-KR" dirty="0" smtClean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</p:txBody>
      </p:sp>
      <p:pic>
        <p:nvPicPr>
          <p:cNvPr id="40" name="Picture 27" descr="C:\Users\ecoffey\AppData\Local\Temp\Rar$DRa0.807\30035_Device_ibm_mainframe_unreachable_64.png">
            <a:extLst>
              <a:ext uri="{FF2B5EF4-FFF2-40B4-BE49-F238E27FC236}">
                <a16:creationId xmlns:a16="http://schemas.microsoft.com/office/drawing/2014/main" xmlns="" id="{F30A8B01-8225-4B99-A032-41C528207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1209" y="6702694"/>
            <a:ext cx="486571" cy="48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xmlns="" id="{AE7B012F-B494-45AB-B536-4F26C1B26FA5}"/>
              </a:ext>
            </a:extLst>
          </p:cNvPr>
          <p:cNvCxnSpPr/>
          <p:nvPr/>
        </p:nvCxnSpPr>
        <p:spPr>
          <a:xfrm flipV="1">
            <a:off x="7890465" y="2545567"/>
            <a:ext cx="1963952" cy="111098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ACDFFDBB-81EA-4933-B744-089A856F783A}"/>
              </a:ext>
            </a:extLst>
          </p:cNvPr>
          <p:cNvSpPr/>
          <p:nvPr/>
        </p:nvSpPr>
        <p:spPr>
          <a:xfrm>
            <a:off x="3228182" y="4266413"/>
            <a:ext cx="1792937" cy="250204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rgbClr val="89A3A4"/>
            </a:solidFill>
            <a:prstDash val="solid"/>
          </a:ln>
          <a:effectLst/>
        </p:spPr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1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FTP://</a:t>
            </a:r>
            <a:r>
              <a:rPr kumimoji="0" lang="en-US" altLang="ko-KR" sz="900" noProof="0" dirty="0" smtClean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118.217.79.44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:21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xmlns="" id="{2FE5CABA-6342-45F2-AC57-C0899A1CB46E}"/>
              </a:ext>
            </a:extLst>
          </p:cNvPr>
          <p:cNvSpPr/>
          <p:nvPr/>
        </p:nvSpPr>
        <p:spPr>
          <a:xfrm>
            <a:off x="3228181" y="4506264"/>
            <a:ext cx="1792938" cy="119044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rgbClr val="89A3A4"/>
            </a:solidFill>
            <a:prstDash val="solid"/>
          </a:ln>
          <a:effectLst/>
        </p:spPr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marR="0" lvl="0" indent="-174625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RPCS </a:t>
            </a:r>
            <a:r>
              <a:rPr kumimoji="0" lang="ko-KR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장비정보</a:t>
            </a:r>
            <a:endParaRPr kumimoji="0" lang="en-US" altLang="ko-KR" sz="9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265113" lvl="1" indent="-177800" fontAlgn="auto">
              <a:spcBef>
                <a:spcPts val="30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장비관리번호</a:t>
            </a:r>
            <a:endParaRPr kumimoji="0" lang="en-US" altLang="ko-KR" sz="900" dirty="0">
              <a:solidFill>
                <a:prstClr val="black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265113" lvl="1" indent="-177800" fontAlgn="auto">
              <a:spcBef>
                <a:spcPts val="30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장비</a:t>
            </a:r>
            <a:r>
              <a:rPr kumimoji="0" lang="en-US" altLang="ko-KR" sz="900" dirty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TID(</a:t>
            </a:r>
            <a:r>
              <a:rPr kumimoji="0" lang="ko-KR" altLang="en-US" sz="900" dirty="0" err="1">
                <a:solidFill>
                  <a:prstClr val="black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장비명</a:t>
            </a:r>
            <a:r>
              <a:rPr kumimoji="0" lang="en-US" altLang="ko-KR" sz="900" dirty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</a:p>
          <a:p>
            <a:pPr marL="265113" lvl="1" indent="-177800" fontAlgn="auto">
              <a:spcBef>
                <a:spcPts val="30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모델</a:t>
            </a:r>
            <a:r>
              <a:rPr kumimoji="0" lang="en-US" altLang="ko-KR" sz="900" dirty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ID</a:t>
            </a:r>
          </a:p>
          <a:p>
            <a:pPr marL="265113" lvl="1" indent="-177800" fontAlgn="auto">
              <a:spcBef>
                <a:spcPts val="30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관리 </a:t>
            </a:r>
            <a:r>
              <a:rPr kumimoji="0" lang="en-US" altLang="ko-KR" sz="900" dirty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IP</a:t>
            </a:r>
          </a:p>
          <a:p>
            <a:pPr marL="265113" lvl="1" indent="-177800" fontAlgn="auto">
              <a:spcBef>
                <a:spcPts val="300"/>
              </a:spcBef>
              <a:spcAft>
                <a:spcPts val="0"/>
              </a:spcAft>
              <a:buFont typeface="+mj-lt"/>
              <a:buAutoNum type="arabicParenR"/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기타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7800" marR="0" lvl="1" indent="0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45" name="모서리가 둥근 사각형 설명선 44"/>
          <p:cNvSpPr/>
          <p:nvPr/>
        </p:nvSpPr>
        <p:spPr bwMode="auto">
          <a:xfrm>
            <a:off x="3228330" y="5762098"/>
            <a:ext cx="1776623" cy="306467"/>
          </a:xfrm>
          <a:prstGeom prst="wedgeRoundRectCallout">
            <a:avLst>
              <a:gd name="adj1" fmla="val -19720"/>
              <a:gd name="adj2" fmla="val 36926"/>
              <a:gd name="adj3" fmla="val 16667"/>
            </a:avLst>
          </a:prstGeom>
          <a:solidFill>
            <a:srgbClr val="FBFB8D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1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FTP</a:t>
            </a: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cs typeface="MS Shell Dlg 2" pitchFamily="34" charset="0"/>
              </a:rPr>
              <a:t>로 매일 </a:t>
            </a: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16:00</a:t>
            </a:r>
            <a:r>
              <a:rPr lang="ko-KR" altLang="en-US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경</a:t>
            </a:r>
            <a:endParaRPr lang="en-US" altLang="ko-KR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cs typeface="MS Shell Dlg 2" pitchFamily="34" charset="0"/>
              </a:rPr>
              <a:t>기존의 연동 장비정보와 동일</a:t>
            </a:r>
            <a:endParaRPr kumimoji="1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xmlns="" id="{C100A6A0-3C65-408F-91B5-66C9A6DC64BA}"/>
              </a:ext>
            </a:extLst>
          </p:cNvPr>
          <p:cNvSpPr/>
          <p:nvPr/>
        </p:nvSpPr>
        <p:spPr>
          <a:xfrm>
            <a:off x="612465" y="4506264"/>
            <a:ext cx="1764000" cy="1188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itchFamily="2" charset="2"/>
              <a:buChar char="§"/>
            </a:pPr>
            <a:r>
              <a:rPr lang="en-US" altLang="ko-KR" sz="900" b="1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RPCS</a:t>
            </a:r>
            <a:r>
              <a:rPr lang="en-US" altLang="ko-KR" sz="900" b="1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900" b="1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접속정보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265113" lvl="1" indent="-177800">
              <a:spcBef>
                <a:spcPts val="300"/>
              </a:spcBef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모델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ID</a:t>
            </a:r>
          </a:p>
          <a:p>
            <a:pPr marL="265113" lvl="1" indent="-177800">
              <a:spcBef>
                <a:spcPts val="300"/>
              </a:spcBef>
              <a:buFont typeface="+mj-lt"/>
              <a:buAutoNum type="arabicParenR"/>
            </a:pPr>
            <a:r>
              <a:rPr lang="en-US" altLang="ko-KR" sz="90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RPCS</a:t>
            </a:r>
            <a:r>
              <a:rPr lang="ko-KR" altLang="en-US" sz="900" dirty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 관리</a:t>
            </a:r>
            <a:r>
              <a:rPr lang="en-US" altLang="ko-KR" sz="90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IPv4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265113" lvl="1" indent="-177800">
              <a:spcBef>
                <a:spcPts val="300"/>
              </a:spcBef>
              <a:buFont typeface="+mj-lt"/>
              <a:buAutoNum type="arabicParenR"/>
            </a:pP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telnet 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접속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ID</a:t>
            </a:r>
          </a:p>
          <a:p>
            <a:pPr marL="265113" lvl="1" indent="-177800">
              <a:spcBef>
                <a:spcPts val="300"/>
              </a:spcBef>
              <a:buFont typeface="+mj-lt"/>
              <a:buAutoNum type="arabicParenR"/>
            </a:pPr>
            <a:r>
              <a:rPr lang="en-US" altLang="ko-KR" sz="9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telnet 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접속</a:t>
            </a:r>
            <a:r>
              <a:rPr lang="en-US" altLang="ko-KR" sz="90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PWD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265113" lvl="1" indent="-177800">
              <a:spcBef>
                <a:spcPts val="300"/>
              </a:spcBef>
              <a:buFont typeface="+mj-lt"/>
              <a:buAutoNum type="arabicParenR"/>
            </a:pP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기</a:t>
            </a:r>
            <a:r>
              <a:rPr lang="ko-KR" altLang="en-US" sz="900" dirty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타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xmlns="" id="{ACDFFDBB-81EA-4933-B744-089A856F783A}"/>
              </a:ext>
            </a:extLst>
          </p:cNvPr>
          <p:cNvSpPr/>
          <p:nvPr/>
        </p:nvSpPr>
        <p:spPr>
          <a:xfrm>
            <a:off x="612465" y="4266413"/>
            <a:ext cx="1764000" cy="248193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spcBef>
                <a:spcPts val="300"/>
              </a:spcBef>
            </a:pP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FTP://118.217.79.44:10821</a:t>
            </a:r>
            <a:endParaRPr lang="en-US" altLang="ko-KR" sz="90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49" name="제목 1">
            <a:extLst>
              <a:ext uri="{FF2B5EF4-FFF2-40B4-BE49-F238E27FC236}">
                <a16:creationId xmlns:a16="http://schemas.microsoft.com/office/drawing/2014/main" xmlns="" id="{3120854E-7B4A-4FA4-9C30-9AA5BDC3ED21}"/>
              </a:ext>
            </a:extLst>
          </p:cNvPr>
          <p:cNvSpPr txBox="1">
            <a:spLocks/>
          </p:cNvSpPr>
          <p:nvPr/>
        </p:nvSpPr>
        <p:spPr bwMode="auto">
          <a:xfrm>
            <a:off x="2304653" y="2604679"/>
            <a:ext cx="734175" cy="1384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lang="ko-KR" altLang="en-US" sz="2000" b="1" kern="1200" smtClean="0">
                <a:solidFill>
                  <a:schemeClr val="tx1"/>
                </a:solidFill>
                <a:latin typeface="+mj-lt"/>
                <a:ea typeface="+mj-ea"/>
                <a:cs typeface="맑은 고딕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/>
                <a:ea typeface="맑은 고딕"/>
                <a:cs typeface="맑은 고딕"/>
              </a:defRPr>
            </a:lvl9pPr>
          </a:lstStyle>
          <a:p>
            <a:pPr algn="ctr"/>
            <a:r>
              <a:rPr lang="en-US" sz="900" dirty="0" err="1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SKT’s</a:t>
            </a:r>
            <a:r>
              <a:rPr lang="en-US" sz="900" dirty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en-US" sz="900" dirty="0" err="1" smtClean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NAT64</a:t>
            </a:r>
            <a:endParaRPr lang="en-US" sz="900" dirty="0">
              <a:solidFill>
                <a:srgbClr val="C00000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pic>
        <p:nvPicPr>
          <p:cNvPr id="50" name="Picture 7" descr="C:\Users\ecoffey\AppData\Local\Temp\Rar$DRa0.034\30061_Device_pix_firewall_critical_64.png">
            <a:extLst>
              <a:ext uri="{FF2B5EF4-FFF2-40B4-BE49-F238E27FC236}">
                <a16:creationId xmlns:a16="http://schemas.microsoft.com/office/drawing/2014/main" xmlns="" id="{C5A70DB6-1BC6-4271-9684-04BE6CF4E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460" y="2212460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Picture 27" descr="C:\Users\ecoffey\AppData\Local\Temp\Rar$DRa0.807\30035_Device_ibm_mainframe_unreachable_64.png">
            <a:extLst>
              <a:ext uri="{FF2B5EF4-FFF2-40B4-BE49-F238E27FC236}">
                <a16:creationId xmlns:a16="http://schemas.microsoft.com/office/drawing/2014/main" xmlns="" id="{F30A8B01-8225-4B99-A032-41C528207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4374" y="6702694"/>
            <a:ext cx="486571" cy="48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3" name="꺾인 연결선 52"/>
          <p:cNvCxnSpPr/>
          <p:nvPr/>
        </p:nvCxnSpPr>
        <p:spPr>
          <a:xfrm rot="16200000" flipV="1">
            <a:off x="5879144" y="4985600"/>
            <a:ext cx="2448000" cy="154713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headEnd type="triangle" w="med" len="med"/>
            <a:tailEnd type="none" w="med" len="med"/>
          </a:ln>
          <a:effectLst/>
        </p:spPr>
      </p:cxnSp>
      <p:sp>
        <p:nvSpPr>
          <p:cNvPr id="55" name="모서리가 둥근 사각형 설명선 54"/>
          <p:cNvSpPr/>
          <p:nvPr/>
        </p:nvSpPr>
        <p:spPr bwMode="auto">
          <a:xfrm>
            <a:off x="593564" y="5732712"/>
            <a:ext cx="1783097" cy="306467"/>
          </a:xfrm>
          <a:prstGeom prst="wedgeRoundRectCallout">
            <a:avLst>
              <a:gd name="adj1" fmla="val -19726"/>
              <a:gd name="adj2" fmla="val 27335"/>
              <a:gd name="adj3" fmla="val 16667"/>
            </a:avLst>
          </a:prstGeom>
          <a:solidFill>
            <a:srgbClr val="FBFB8D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1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FTP</a:t>
            </a: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cs typeface="MS Shell Dlg 2" pitchFamily="34" charset="0"/>
              </a:rPr>
              <a:t>로 매일 </a:t>
            </a: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17:50</a:t>
            </a:r>
            <a:r>
              <a:rPr lang="ko-KR" altLang="en-US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경</a:t>
            </a:r>
            <a:endParaRPr lang="en-US" altLang="ko-KR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1450" marR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cs typeface="MS Shell Dlg 2" pitchFamily="34" charset="0"/>
              </a:rPr>
              <a:t>기존의 </a:t>
            </a:r>
            <a:r>
              <a:rPr lang="en-US" altLang="ko-KR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RCCS</a:t>
            </a: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cs typeface="MS Shell Dlg 2" pitchFamily="34" charset="0"/>
              </a:rPr>
              <a:t>연동정보와 동일</a:t>
            </a:r>
            <a:endParaRPr kumimoji="1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59" name="구름 58"/>
          <p:cNvSpPr/>
          <p:nvPr/>
        </p:nvSpPr>
        <p:spPr>
          <a:xfrm>
            <a:off x="6010099" y="2033010"/>
            <a:ext cx="1047082" cy="626196"/>
          </a:xfrm>
          <a:prstGeom prst="cloud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dirty="0" err="1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공인망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algn="ctr"/>
            <a:r>
              <a:rPr lang="en-US" altLang="ko-KR" sz="90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IPv4</a:t>
            </a:r>
            <a:endParaRPr lang="ko-KR" altLang="en-US" sz="900" dirty="0">
              <a:solidFill>
                <a:schemeClr val="tx1"/>
              </a:solidFill>
              <a:latin typeface="MS Shell Dlg 2" pitchFamily="34" charset="0"/>
              <a:ea typeface="굴림" pitchFamily="50" charset="-127"/>
              <a:cs typeface="MS Shell Dlg 2" pitchFamily="34" charset="0"/>
            </a:endParaRPr>
          </a:p>
        </p:txBody>
      </p:sp>
      <p:sp>
        <p:nvSpPr>
          <p:cNvPr id="60" name="모서리가 둥근 사각형 설명선 59"/>
          <p:cNvSpPr/>
          <p:nvPr/>
        </p:nvSpPr>
        <p:spPr bwMode="auto">
          <a:xfrm>
            <a:off x="269036" y="653990"/>
            <a:ext cx="1675577" cy="420956"/>
          </a:xfrm>
          <a:prstGeom prst="wedgeRoundRectCallout">
            <a:avLst>
              <a:gd name="adj1" fmla="val 22792"/>
              <a:gd name="adj2" fmla="val 13553"/>
              <a:gd name="adj3" fmla="val 16667"/>
            </a:avLst>
          </a:prstGeom>
          <a:solidFill>
            <a:schemeClr val="bg1">
              <a:lumMod val="95000"/>
            </a:schemeClr>
          </a:solidFill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000" b="1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[</a:t>
            </a:r>
            <a:r>
              <a:rPr lang="ko-KR" altLang="en-US" sz="1000" b="1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약어</a:t>
            </a:r>
            <a:r>
              <a:rPr lang="en-US" altLang="ko-KR" sz="1000" b="1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]</a:t>
            </a:r>
            <a:endParaRPr kumimoji="1" lang="en-US" altLang="ko-KR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R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KAM:</a:t>
            </a:r>
            <a:r>
              <a:rPr kumimoji="1" lang="en-US" altLang="ko-KR" sz="1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Keep-Alive Message</a:t>
            </a:r>
            <a:endParaRPr kumimoji="1" lang="en-US" altLang="ko-K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grpSp>
        <p:nvGrpSpPr>
          <p:cNvPr id="61" name="그룹 60"/>
          <p:cNvGrpSpPr/>
          <p:nvPr/>
        </p:nvGrpSpPr>
        <p:grpSpPr>
          <a:xfrm>
            <a:off x="394284" y="2081399"/>
            <a:ext cx="758241" cy="708008"/>
            <a:chOff x="8911753" y="6348004"/>
            <a:chExt cx="758241" cy="708008"/>
          </a:xfrm>
        </p:grpSpPr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xmlns="" id="{4CDFA4B4-96D8-40D1-94BE-7C520350F637}"/>
                </a:ext>
              </a:extLst>
            </p:cNvPr>
            <p:cNvGrpSpPr/>
            <p:nvPr/>
          </p:nvGrpSpPr>
          <p:grpSpPr>
            <a:xfrm>
              <a:off x="8911753" y="6459677"/>
              <a:ext cx="487680" cy="596335"/>
              <a:chOff x="6122359" y="5240969"/>
              <a:chExt cx="487680" cy="596335"/>
            </a:xfrm>
          </p:grpSpPr>
          <p:pic>
            <p:nvPicPr>
              <p:cNvPr id="65" name="Picture 11" descr="C:\Users\ecoffey\AppData\Local\Temp\Rar$DRa0.200\30050_Device_nexus5000_default_64.png">
                <a:extLst>
                  <a:ext uri="{FF2B5EF4-FFF2-40B4-BE49-F238E27FC236}">
                    <a16:creationId xmlns:a16="http://schemas.microsoft.com/office/drawing/2014/main" xmlns="" id="{999FD3F3-BCF1-4057-9FE7-6701DF9317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22359" y="5349624"/>
                <a:ext cx="487680" cy="4876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6" name="제목 1">
                <a:extLst>
                  <a:ext uri="{FF2B5EF4-FFF2-40B4-BE49-F238E27FC236}">
                    <a16:creationId xmlns:a16="http://schemas.microsoft.com/office/drawing/2014/main" xmlns="" id="{1A83D115-46D1-4D07-B264-3F7B29FFAA4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184259" y="5240969"/>
                <a:ext cx="363882" cy="1384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algn="l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lang="ko-KR" altLang="en-US" sz="2000" b="1" kern="1200" smtClean="0">
                    <a:solidFill>
                      <a:schemeClr val="tx1"/>
                    </a:solidFill>
                    <a:latin typeface="+mj-lt"/>
                    <a:ea typeface="+mj-ea"/>
                    <a:cs typeface="맑은 고딕"/>
                  </a:defRPr>
                </a:lvl1pPr>
                <a:lvl2pPr algn="ctr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2pPr>
                <a:lvl3pPr algn="ctr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3pPr>
                <a:lvl4pPr algn="ctr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4pPr>
                <a:lvl5pPr algn="ctr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5pPr>
                <a:lvl6pPr marL="4572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6pPr>
                <a:lvl7pPr marL="9144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7pPr>
                <a:lvl8pPr marL="13716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8pPr>
                <a:lvl9pPr marL="18288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9pPr>
              </a:lstStyle>
              <a:p>
                <a:pPr algn="ctr"/>
                <a:r>
                  <a:rPr lang="en-US" sz="900" b="0" dirty="0" smtClean="0">
                    <a:latin typeface="MS Shell Dlg 2" pitchFamily="34" charset="0"/>
                    <a:ea typeface="MS Shell Dlg 2" pitchFamily="34" charset="0"/>
                    <a:cs typeface="MS Shell Dlg 2" pitchFamily="34" charset="0"/>
                  </a:rPr>
                  <a:t>c-RPCS</a:t>
                </a:r>
                <a:endParaRPr lang="en-US" sz="900" b="0" dirty="0">
                  <a:latin typeface="MS Shell Dlg 2" pitchFamily="34" charset="0"/>
                  <a:ea typeface="MS Shell Dlg 2" pitchFamily="34" charset="0"/>
                  <a:cs typeface="MS Shell Dlg 2" pitchFamily="34" charset="0"/>
                </a:endParaRPr>
              </a:p>
            </p:txBody>
          </p:sp>
        </p:grpSp>
        <p:cxnSp>
          <p:nvCxnSpPr>
            <p:cNvPr id="63" name="연결선: 꺾임 52">
              <a:extLst>
                <a:ext uri="{FF2B5EF4-FFF2-40B4-BE49-F238E27FC236}">
                  <a16:creationId xmlns:a16="http://schemas.microsoft.com/office/drawing/2014/main" xmlns="" id="{08C235AD-75FE-4E84-984E-0E004041DA39}"/>
                </a:ext>
              </a:extLst>
            </p:cNvPr>
            <p:cNvCxnSpPr>
              <a:cxnSpLocks/>
              <a:stCxn id="64" idx="0"/>
              <a:endCxn id="65" idx="3"/>
            </p:cNvCxnSpPr>
            <p:nvPr/>
          </p:nvCxnSpPr>
          <p:spPr>
            <a:xfrm rot="5400000">
              <a:off x="9289139" y="6566599"/>
              <a:ext cx="355868" cy="135279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이등변 삼각형 63">
              <a:extLst>
                <a:ext uri="{FF2B5EF4-FFF2-40B4-BE49-F238E27FC236}">
                  <a16:creationId xmlns:a16="http://schemas.microsoft.com/office/drawing/2014/main" xmlns="" id="{9488776D-7053-4CB3-A97E-A0D5DF897D3E}"/>
                </a:ext>
              </a:extLst>
            </p:cNvPr>
            <p:cNvSpPr/>
            <p:nvPr/>
          </p:nvSpPr>
          <p:spPr>
            <a:xfrm rot="10800000">
              <a:off x="9399431" y="6348004"/>
              <a:ext cx="270563" cy="108300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 dirty="0" err="1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endParaRPr>
            </a:p>
          </p:txBody>
        </p:sp>
      </p:grpSp>
      <p:sp>
        <p:nvSpPr>
          <p:cNvPr id="79" name="직사각형 78">
            <a:extLst>
              <a:ext uri="{FF2B5EF4-FFF2-40B4-BE49-F238E27FC236}">
                <a16:creationId xmlns:a16="http://schemas.microsoft.com/office/drawing/2014/main" xmlns="" id="{ACDFFDBB-81EA-4933-B744-089A856F783A}"/>
              </a:ext>
            </a:extLst>
          </p:cNvPr>
          <p:cNvSpPr/>
          <p:nvPr/>
        </p:nvSpPr>
        <p:spPr>
          <a:xfrm>
            <a:off x="2988729" y="1332520"/>
            <a:ext cx="2196000" cy="244246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spcBef>
                <a:spcPts val="300"/>
              </a:spcBef>
            </a:pP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UDP://catm1.skbroadband.com:40001</a:t>
            </a:r>
            <a:endParaRPr lang="en-US" altLang="ko-KR" sz="90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xmlns="" id="{C100A6A0-3C65-408F-91B5-66C9A6DC64BA}"/>
              </a:ext>
            </a:extLst>
          </p:cNvPr>
          <p:cNvSpPr/>
          <p:nvPr/>
        </p:nvSpPr>
        <p:spPr>
          <a:xfrm>
            <a:off x="2988729" y="1572272"/>
            <a:ext cx="2196000" cy="792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5725" indent="-85725">
              <a:buFont typeface="+mj-lt"/>
              <a:buAutoNum type="alphaUcPeriod"/>
            </a:pPr>
            <a:r>
              <a:rPr lang="en-US" altLang="ko-KR" sz="9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Full 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</a:t>
            </a:r>
            <a:b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</a:b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- 1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시간마다 전송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가변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b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</a:b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- RPCS:Cat.M1 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장비구성 </a:t>
            </a:r>
            <a:r>
              <a:rPr lang="ko-KR" altLang="en-US" sz="90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변경시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전송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굴림" pitchFamily="50" charset="-127"/>
              <a:cs typeface="MS Shell Dlg 2" pitchFamily="34" charset="0"/>
            </a:endParaRPr>
          </a:p>
          <a:p>
            <a:pPr marL="85725" indent="-85725">
              <a:buFont typeface="+mj-lt"/>
              <a:buAutoNum type="alphaUcPeriod"/>
            </a:pP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Short KAM</a:t>
            </a:r>
            <a:r>
              <a:rPr lang="en-US" altLang="ko-KR" sz="900" dirty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/>
            </a:r>
            <a:br>
              <a:rPr lang="en-US" altLang="ko-KR" sz="900" dirty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</a:b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- 10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초마다 전송</a:t>
            </a:r>
            <a:r>
              <a:rPr lang="en-US" altLang="ko-KR" sz="9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(</a:t>
            </a:r>
            <a:r>
              <a:rPr lang="ko-KR" altLang="en-US" sz="9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가변</a:t>
            </a:r>
            <a:r>
              <a:rPr lang="en-US" altLang="ko-KR" sz="9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굴림" pitchFamily="50" charset="-127"/>
              <a:cs typeface="MS Shell Dlg 2" pitchFamily="34" charset="0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9900231" y="2019171"/>
            <a:ext cx="671872" cy="720000"/>
            <a:chOff x="9900231" y="1894614"/>
            <a:chExt cx="671872" cy="720000"/>
          </a:xfrm>
        </p:grpSpPr>
        <p:pic>
          <p:nvPicPr>
            <p:cNvPr id="20" name="Picture 62" descr="db02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4F9F3"/>
                </a:clrFrom>
                <a:clrTo>
                  <a:srgbClr val="F4F9F3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0231" y="1894614"/>
              <a:ext cx="671872" cy="7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Text Box 63"/>
            <p:cNvSpPr txBox="1">
              <a:spLocks noChangeArrowheads="1"/>
            </p:cNvSpPr>
            <p:nvPr/>
          </p:nvSpPr>
          <p:spPr bwMode="auto">
            <a:xfrm>
              <a:off x="9948134" y="2221987"/>
              <a:ext cx="485145" cy="232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r>
                <a:rPr lang="en-US" altLang="ko-KR" sz="900" dirty="0" smtClean="0">
                  <a:latin typeface="MS Shell Dlg 2" pitchFamily="34" charset="0"/>
                  <a:ea typeface="MS Shell Dlg 2" pitchFamily="34" charset="0"/>
                  <a:cs typeface="MS Shell Dlg 2" pitchFamily="34" charset="0"/>
                </a:rPr>
                <a:t>MS-SQL</a:t>
              </a:r>
              <a:endParaRPr lang="en-US" altLang="ko-KR" sz="900" dirty="0">
                <a:latin typeface="MS Shell Dlg 2" pitchFamily="34" charset="0"/>
                <a:ea typeface="MS Shell Dlg 2" pitchFamily="34" charset="0"/>
                <a:cs typeface="MS Shell Dlg 2" pitchFamily="34" charset="0"/>
              </a:endParaRPr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:a16="http://schemas.microsoft.com/office/drawing/2014/main" xmlns="" id="{ACDFFDBB-81EA-4933-B744-089A856F783A}"/>
              </a:ext>
            </a:extLst>
          </p:cNvPr>
          <p:cNvSpPr/>
          <p:nvPr/>
        </p:nvSpPr>
        <p:spPr>
          <a:xfrm>
            <a:off x="4058216" y="2532671"/>
            <a:ext cx="1980000" cy="244246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spcBef>
                <a:spcPts val="300"/>
              </a:spcBef>
            </a:pP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UDP://Reply of KAM</a:t>
            </a:r>
            <a:endParaRPr lang="en-US" altLang="ko-KR" sz="90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xmlns="" id="{C100A6A0-3C65-408F-91B5-66C9A6DC64BA}"/>
              </a:ext>
            </a:extLst>
          </p:cNvPr>
          <p:cNvSpPr/>
          <p:nvPr/>
        </p:nvSpPr>
        <p:spPr>
          <a:xfrm>
            <a:off x="4058216" y="2772423"/>
            <a:ext cx="1980000" cy="648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lphaUcPeriod" startAt="3"/>
            </a:pP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Short </a:t>
            </a:r>
            <a:r>
              <a:rPr lang="en-US" altLang="ko-KR" sz="900" dirty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Reply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/>
            </a:r>
            <a:b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</a:b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- Full KAM 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에 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대한 응답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228600" indent="-228600">
              <a:buFont typeface="+mj-lt"/>
              <a:buAutoNum type="alphaUcPeriod" startAt="3"/>
            </a:pP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Full </a:t>
            </a:r>
            <a:r>
              <a:rPr lang="en-US" altLang="ko-KR" sz="900" dirty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Reply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 </a:t>
            </a: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/>
            </a:r>
            <a:b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</a:br>
            <a:r>
              <a:rPr lang="en-US" altLang="ko-KR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- </a:t>
            </a:r>
            <a:r>
              <a:rPr lang="ko-KR" altLang="en-US" sz="90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장비연결이 필요한 경우 전송</a:t>
            </a:r>
            <a:endParaRPr lang="en-US" altLang="ko-KR" sz="900" dirty="0" smtClean="0">
              <a:solidFill>
                <a:schemeClr val="tx1"/>
              </a:solidFill>
              <a:latin typeface="MS Shell Dlg 2" pitchFamily="34" charset="0"/>
              <a:ea typeface="굴림" pitchFamily="50" charset="-127"/>
              <a:cs typeface="MS Shell Dlg 2" pitchFamily="34" charset="0"/>
            </a:endParaRPr>
          </a:p>
        </p:txBody>
      </p:sp>
      <p:grpSp>
        <p:nvGrpSpPr>
          <p:cNvPr id="90" name="그룹 89"/>
          <p:cNvGrpSpPr/>
          <p:nvPr/>
        </p:nvGrpSpPr>
        <p:grpSpPr>
          <a:xfrm>
            <a:off x="7357417" y="3459587"/>
            <a:ext cx="671872" cy="720000"/>
            <a:chOff x="9900231" y="1894614"/>
            <a:chExt cx="671872" cy="720000"/>
          </a:xfrm>
        </p:grpSpPr>
        <p:pic>
          <p:nvPicPr>
            <p:cNvPr id="91" name="Picture 62" descr="db02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4F9F3"/>
                </a:clrFrom>
                <a:clrTo>
                  <a:srgbClr val="F4F9F3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0231" y="1894614"/>
              <a:ext cx="671872" cy="7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Text Box 63"/>
            <p:cNvSpPr txBox="1">
              <a:spLocks noChangeArrowheads="1"/>
            </p:cNvSpPr>
            <p:nvPr/>
          </p:nvSpPr>
          <p:spPr bwMode="auto">
            <a:xfrm>
              <a:off x="9948134" y="2221987"/>
              <a:ext cx="485145" cy="2320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latinLnBrk="1" hangingPunct="1"/>
              <a:r>
                <a:rPr lang="en-US" altLang="ko-KR" sz="900" dirty="0" smtClean="0">
                  <a:latin typeface="MS Shell Dlg 2" pitchFamily="34" charset="0"/>
                  <a:ea typeface="MS Shell Dlg 2" pitchFamily="34" charset="0"/>
                  <a:cs typeface="MS Shell Dlg 2" pitchFamily="34" charset="0"/>
                </a:rPr>
                <a:t>MS-SQL</a:t>
              </a:r>
              <a:endParaRPr lang="en-US" altLang="ko-KR" sz="900" dirty="0">
                <a:latin typeface="MS Shell Dlg 2" pitchFamily="34" charset="0"/>
                <a:ea typeface="MS Shell Dlg 2" pitchFamily="34" charset="0"/>
                <a:cs typeface="MS Shell Dlg 2" pitchFamily="34" charset="0"/>
              </a:endParaRPr>
            </a:p>
          </p:txBody>
        </p:sp>
      </p:grpSp>
      <p:pic>
        <p:nvPicPr>
          <p:cNvPr id="3074" name="Picture 2" descr="ftp server iconì ëí ì´ë¯¸ì§ ê²ìê²°ê³¼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9787" y="3529057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직사각형 100">
            <a:extLst>
              <a:ext uri="{FF2B5EF4-FFF2-40B4-BE49-F238E27FC236}">
                <a16:creationId xmlns:a16="http://schemas.microsoft.com/office/drawing/2014/main" xmlns="" id="{ACDFFDBB-81EA-4933-B744-089A856F783A}"/>
              </a:ext>
            </a:extLst>
          </p:cNvPr>
          <p:cNvSpPr/>
          <p:nvPr/>
        </p:nvSpPr>
        <p:spPr>
          <a:xfrm>
            <a:off x="8929597" y="3000723"/>
            <a:ext cx="1872000" cy="250204"/>
          </a:xfrm>
          <a:prstGeom prst="rect">
            <a:avLst/>
          </a:prstGeom>
          <a:solidFill>
            <a:sysClr val="window" lastClr="FFFFFF"/>
          </a:solidFill>
          <a:ln w="3175" cap="flat" cmpd="sng" algn="ctr">
            <a:solidFill>
              <a:srgbClr val="89A3A4"/>
            </a:solidFill>
            <a:prstDash val="solid"/>
          </a:ln>
          <a:effectLst/>
        </p:spPr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fontAlgn="auto">
              <a:spcBef>
                <a:spcPts val="300"/>
              </a:spcBef>
              <a:spcAft>
                <a:spcPts val="0"/>
              </a:spcAft>
              <a:defRPr/>
            </a:pPr>
            <a:r>
              <a:rPr kumimoji="0" lang="en-US" altLang="ko-KR" sz="900" dirty="0" smtClean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DBLINK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:</a:t>
            </a:r>
            <a:r>
              <a:rPr kumimoji="0" lang="ko-KR" altLang="en-US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매일 </a:t>
            </a:r>
            <a:r>
              <a:rPr kumimoji="0" lang="en-US" altLang="ko-KR" sz="9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06:30 DB</a:t>
            </a:r>
            <a:r>
              <a:rPr kumimoji="0" lang="ko-KR" altLang="en-US" sz="900" dirty="0" err="1" smtClean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스케쥴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xmlns="" id="{2FE5CABA-6342-45F2-AC57-C0899A1CB46E}"/>
              </a:ext>
            </a:extLst>
          </p:cNvPr>
          <p:cNvSpPr/>
          <p:nvPr/>
        </p:nvSpPr>
        <p:spPr>
          <a:xfrm>
            <a:off x="8927261" y="3250897"/>
            <a:ext cx="1872000" cy="396000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rgbClr val="89A3A4"/>
            </a:solidFill>
            <a:prstDash val="solid"/>
          </a:ln>
          <a:effectLst/>
        </p:spPr>
        <p:txBody>
          <a:bodyPr rtlCol="0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marR="0" lvl="0" indent="-174625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RPCS </a:t>
            </a:r>
            <a:r>
              <a:rPr kumimoji="0" lang="ko-KR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</a:t>
            </a:r>
            <a:r>
              <a:rPr kumimoji="0" lang="ko-KR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정보</a:t>
            </a:r>
            <a:endParaRPr kumimoji="0" lang="en-US" altLang="ko-KR" sz="900" b="1" dirty="0">
              <a:solidFill>
                <a:prstClr val="black"/>
              </a:solidFill>
              <a:latin typeface="MS Shell Dlg 2" pitchFamily="34" charset="0"/>
              <a:ea typeface="굴림" pitchFamily="50" charset="-127"/>
              <a:cs typeface="MS Shell Dlg 2" pitchFamily="34" charset="0"/>
            </a:endParaRPr>
          </a:p>
          <a:p>
            <a:pPr marL="174625" marR="0" lvl="0" indent="-174625" algn="l" defTabSz="914400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900" b="1" dirty="0" smtClean="0">
                <a:solidFill>
                  <a:prstClr val="black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RPCS </a:t>
            </a:r>
            <a:r>
              <a:rPr kumimoji="0" lang="ko-KR" altLang="en-US" sz="9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접속정보</a:t>
            </a:r>
            <a:endParaRPr kumimoji="0" lang="en-US" altLang="ko-KR" sz="900" b="1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S Shell Dlg 2" pitchFamily="34" charset="0"/>
              <a:ea typeface="굴림" pitchFamily="50" charset="-127"/>
              <a:cs typeface="MS Shell Dlg 2" pitchFamily="34" charset="0"/>
            </a:endParaRPr>
          </a:p>
        </p:txBody>
      </p:sp>
      <p:sp>
        <p:nvSpPr>
          <p:cNvPr id="114" name="직사각형 113"/>
          <p:cNvSpPr/>
          <p:nvPr/>
        </p:nvSpPr>
        <p:spPr bwMode="auto">
          <a:xfrm>
            <a:off x="6233194" y="6318856"/>
            <a:ext cx="966717" cy="96773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latinLnBrk="0"/>
            <a:r>
              <a:rPr kumimoji="0" lang="en-US" altLang="ko-KR" b="1" dirty="0" smtClean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FOMS</a:t>
            </a:r>
          </a:p>
          <a:p>
            <a:pPr algn="ctr" latinLnBrk="0"/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(118.217.79.151</a:t>
            </a:r>
            <a:r>
              <a:rPr kumimoji="0" lang="en-US" altLang="ko-KR" dirty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endParaRPr lang="ko-KR" altLang="en-US" kern="0" dirty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</p:txBody>
      </p:sp>
      <p:pic>
        <p:nvPicPr>
          <p:cNvPr id="115" name="Picture 27" descr="C:\Users\ecoffey\AppData\Local\Temp\Rar$DRa0.807\30035_Device_ibm_mainframe_unreachable_64.png">
            <a:extLst>
              <a:ext uri="{FF2B5EF4-FFF2-40B4-BE49-F238E27FC236}">
                <a16:creationId xmlns:a16="http://schemas.microsoft.com/office/drawing/2014/main" xmlns="" id="{F30A8B01-8225-4B99-A032-41C5282072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703" y="6702694"/>
            <a:ext cx="486571" cy="486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모서리가 둥근 사각형 설명선 56"/>
          <p:cNvSpPr/>
          <p:nvPr/>
        </p:nvSpPr>
        <p:spPr bwMode="auto">
          <a:xfrm>
            <a:off x="4058216" y="3524143"/>
            <a:ext cx="1980000" cy="153233"/>
          </a:xfrm>
          <a:prstGeom prst="wedgeRoundRectCallout">
            <a:avLst>
              <a:gd name="adj1" fmla="val -19720"/>
              <a:gd name="adj2" fmla="val 36926"/>
              <a:gd name="adj3" fmla="val 16667"/>
            </a:avLst>
          </a:prstGeom>
          <a:solidFill>
            <a:srgbClr val="FBFB8D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180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- </a:t>
            </a: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다음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페이지의 </a:t>
            </a: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정의서 참고</a:t>
            </a:r>
            <a:endParaRPr kumimoji="1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58" name="모서리가 둥근 사각형 설명선 57"/>
          <p:cNvSpPr/>
          <p:nvPr/>
        </p:nvSpPr>
        <p:spPr bwMode="auto">
          <a:xfrm>
            <a:off x="2988729" y="761161"/>
            <a:ext cx="2556000" cy="540000"/>
          </a:xfrm>
          <a:prstGeom prst="wedgeRoundRectCallout">
            <a:avLst>
              <a:gd name="adj1" fmla="val -19720"/>
              <a:gd name="adj2" fmla="val 36926"/>
              <a:gd name="adj3" fmla="val 16667"/>
            </a:avLst>
          </a:prstGeom>
          <a:solidFill>
            <a:srgbClr val="FBFB8D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1800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- KAM 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전송주기는 </a:t>
            </a: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RPCS</a:t>
            </a:r>
            <a:r>
              <a:rPr lang="ko-KR" altLang="en-US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장비별로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설정 가능하므로 달라질 수 있음</a:t>
            </a:r>
            <a:endParaRPr kumimoji="1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통신</a:t>
            </a: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규격은 다음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페이지의 </a:t>
            </a: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정의서 참고</a:t>
            </a:r>
            <a:endParaRPr kumimoji="1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5" name="직사각형 4"/>
          <p:cNvSpPr/>
          <p:nvPr/>
        </p:nvSpPr>
        <p:spPr bwMode="auto">
          <a:xfrm>
            <a:off x="6157281" y="4365208"/>
            <a:ext cx="4392204" cy="344803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b" anchorCtr="0" compatLnSpc="1">
            <a:prstTxWarp prst="textNoShape">
              <a:avLst/>
            </a:prstTxWarp>
            <a:noAutofit/>
          </a:bodyPr>
          <a:lstStyle/>
          <a:p>
            <a:pPr algn="ctr" eaLnBrk="0" hangingPunct="0">
              <a:spcBef>
                <a:spcPct val="20000"/>
              </a:spcBef>
              <a:buSzPct val="70000"/>
            </a:pPr>
            <a:r>
              <a:rPr lang="en-US" altLang="ko-KR" sz="1050" b="1" dirty="0" smtClean="0">
                <a:solidFill>
                  <a:srgbClr val="C00000"/>
                </a:solidFill>
                <a:latin typeface="+mn-ea"/>
                <a:cs typeface="Arials"/>
              </a:rPr>
              <a:t>(2019/7/1) </a:t>
            </a:r>
            <a:r>
              <a:rPr lang="ko-KR" altLang="en-US" sz="1050" b="1" dirty="0" smtClean="0">
                <a:solidFill>
                  <a:srgbClr val="C00000"/>
                </a:solidFill>
                <a:latin typeface="+mn-ea"/>
                <a:cs typeface="Arials"/>
              </a:rPr>
              <a:t>개발미완료</a:t>
            </a:r>
            <a:r>
              <a:rPr lang="en-US" altLang="ko-KR" sz="1050" dirty="0" smtClean="0">
                <a:solidFill>
                  <a:srgbClr val="C00000"/>
                </a:solidFill>
                <a:latin typeface="+mn-ea"/>
                <a:cs typeface="Arials"/>
              </a:rPr>
              <a:t>, </a:t>
            </a:r>
            <a:r>
              <a:rPr lang="ko-KR" altLang="en-US" sz="1050" dirty="0" smtClean="0">
                <a:solidFill>
                  <a:srgbClr val="C00000"/>
                </a:solidFill>
                <a:latin typeface="+mn-ea"/>
                <a:cs typeface="Arials"/>
              </a:rPr>
              <a:t>운영에 </a:t>
            </a:r>
            <a:r>
              <a:rPr lang="en-US" altLang="ko-KR" sz="1050" dirty="0" smtClean="0">
                <a:solidFill>
                  <a:srgbClr val="C00000"/>
                </a:solidFill>
                <a:latin typeface="+mn-ea"/>
                <a:cs typeface="Arials"/>
              </a:rPr>
              <a:t>RPCS</a:t>
            </a:r>
            <a:r>
              <a:rPr lang="ko-KR" altLang="en-US" sz="1050" dirty="0" smtClean="0">
                <a:solidFill>
                  <a:srgbClr val="C00000"/>
                </a:solidFill>
                <a:latin typeface="+mn-ea"/>
                <a:cs typeface="Arials"/>
              </a:rPr>
              <a:t>장비 연동되었으나 </a:t>
            </a:r>
            <a:endParaRPr lang="en-US" altLang="ko-KR" sz="1050" dirty="0" smtClean="0">
              <a:solidFill>
                <a:srgbClr val="C00000"/>
              </a:solidFill>
              <a:latin typeface="+mn-ea"/>
              <a:cs typeface="Arials"/>
            </a:endParaRPr>
          </a:p>
          <a:p>
            <a:pPr algn="ctr" eaLnBrk="0" hangingPunct="0">
              <a:spcBef>
                <a:spcPct val="20000"/>
              </a:spcBef>
              <a:buSzPct val="70000"/>
            </a:pPr>
            <a:r>
              <a:rPr lang="en-US" altLang="ko-KR" sz="1050" dirty="0" smtClean="0">
                <a:solidFill>
                  <a:srgbClr val="C00000"/>
                </a:solidFill>
                <a:latin typeface="+mn-ea"/>
                <a:cs typeface="Arials"/>
              </a:rPr>
              <a:t>LTE Keep-Alive </a:t>
            </a:r>
            <a:r>
              <a:rPr lang="ko-KR" altLang="en-US" sz="1050" dirty="0" smtClean="0">
                <a:solidFill>
                  <a:srgbClr val="C00000"/>
                </a:solidFill>
                <a:latin typeface="+mn-ea"/>
                <a:cs typeface="Arials"/>
              </a:rPr>
              <a:t>메시지 </a:t>
            </a:r>
            <a:r>
              <a:rPr lang="ko-KR" altLang="en-US" sz="1050" dirty="0" err="1" smtClean="0">
                <a:solidFill>
                  <a:srgbClr val="C00000"/>
                </a:solidFill>
                <a:latin typeface="+mn-ea"/>
                <a:cs typeface="Arials"/>
              </a:rPr>
              <a:t>발송안하고</a:t>
            </a:r>
            <a:r>
              <a:rPr lang="ko-KR" altLang="en-US" sz="1050" dirty="0" smtClean="0">
                <a:solidFill>
                  <a:srgbClr val="C00000"/>
                </a:solidFill>
                <a:latin typeface="+mn-ea"/>
                <a:cs typeface="Arials"/>
              </a:rPr>
              <a:t> 있음</a:t>
            </a:r>
            <a:endParaRPr lang="ko-KR" altLang="en-US" sz="1050" dirty="0" smtClean="0">
              <a:solidFill>
                <a:srgbClr val="C00000"/>
              </a:solidFill>
              <a:latin typeface="+mn-ea"/>
              <a:cs typeface="Arials"/>
            </a:endParaRPr>
          </a:p>
        </p:txBody>
      </p:sp>
    </p:spTree>
    <p:extLst>
      <p:ext uri="{BB962C8B-B14F-4D97-AF65-F5344CB8AC3E}">
        <p14:creationId xmlns:p14="http://schemas.microsoft.com/office/powerpoint/2010/main" val="4244284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KAM(Keep-Alive Message): Cat.M1</a:t>
            </a:r>
            <a:r>
              <a:rPr lang="en-US" altLang="ko-KR" dirty="0" smtClean="0">
                <a:sym typeface="Wingdings 3"/>
              </a:rPr>
              <a:t></a:t>
            </a:r>
            <a:r>
              <a:rPr lang="en-US" altLang="ko-KR" dirty="0" smtClean="0">
                <a:sym typeface="Wingdings 3"/>
              </a:rPr>
              <a:t>KAMServer</a:t>
            </a:r>
            <a:r>
              <a:rPr lang="en-US" altLang="ko-KR" dirty="0">
                <a:sym typeface="Wingdings 3"/>
              </a:rPr>
              <a:t> </a:t>
            </a:r>
            <a:r>
              <a:rPr lang="ko-KR" altLang="en-US" dirty="0" smtClean="0"/>
              <a:t>통신 규약 정의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smtClean="0"/>
              <a:t>2019/07/01</a:t>
            </a:r>
            <a:endParaRPr lang="ko-KR" altLang="en-US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12545"/>
              </p:ext>
            </p:extLst>
          </p:nvPr>
        </p:nvGraphicFramePr>
        <p:xfrm>
          <a:off x="360437" y="1152500"/>
          <a:ext cx="10765196" cy="6007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6064"/>
                <a:gridCol w="540060"/>
                <a:gridCol w="1080120"/>
                <a:gridCol w="1603666"/>
                <a:gridCol w="736594"/>
                <a:gridCol w="864096"/>
                <a:gridCol w="858307"/>
                <a:gridCol w="889090"/>
                <a:gridCol w="889090"/>
                <a:gridCol w="2728109"/>
              </a:tblGrid>
              <a:tr h="3093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Type</a:t>
                      </a:r>
                      <a:endParaRPr lang="en-US" altLang="ko-KR" sz="900" b="1" dirty="0" smtClean="0">
                        <a:latin typeface="MS Shell Dlg 2" pitchFamily="34" charset="0"/>
                        <a:ea typeface="MS Shell Dlg 2" pitchFamily="34" charset="0"/>
                        <a:cs typeface="MS Shell Dlg 2" pitchFamily="34" charset="0"/>
                      </a:endParaRPr>
                    </a:p>
                    <a:p>
                      <a:pPr algn="ctr" latinLnBrk="1"/>
                      <a:r>
                        <a:rPr lang="en-US" altLang="ko-KR" sz="900" b="0" dirty="0" smtClean="0">
                          <a:solidFill>
                            <a:schemeClr val="tx1"/>
                          </a:solidFill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[1bytes]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Length</a:t>
                      </a:r>
                    </a:p>
                    <a:p>
                      <a:pPr algn="ctr" latinLnBrk="1"/>
                      <a:r>
                        <a:rPr lang="en-US" altLang="ko-KR" sz="900" b="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[1bytes]</a:t>
                      </a:r>
                      <a:endParaRPr lang="ko-KR" altLang="en-US" sz="900" b="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Value</a:t>
                      </a:r>
                    </a:p>
                    <a:p>
                      <a:pPr algn="ctr" latinLnBrk="1"/>
                      <a:r>
                        <a:rPr lang="en-US" altLang="ko-KR" sz="900" b="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[N bytes]</a:t>
                      </a:r>
                      <a:endParaRPr lang="ko-KR" altLang="en-US" sz="900" b="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값 설명</a:t>
                      </a:r>
                      <a:endParaRPr lang="ko-KR" altLang="en-US" sz="900" b="1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Base64</a:t>
                      </a:r>
                    </a:p>
                    <a:p>
                      <a:pPr algn="ctr" latinLnBrk="1"/>
                      <a:r>
                        <a:rPr lang="en-US" altLang="ko-KR" sz="900" b="1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Encoding</a:t>
                      </a:r>
                      <a:endParaRPr lang="ko-KR" altLang="en-US" sz="900" b="1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106052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[RECEIVE]</a:t>
                      </a:r>
                    </a:p>
                    <a:p>
                      <a:pPr marL="0" marR="0" indent="0" algn="l" defTabSz="106052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Cat.M1</a:t>
                      </a:r>
                      <a:r>
                        <a:rPr lang="en-US" altLang="ko-KR" sz="900" b="1" kern="0" dirty="0" smtClean="0">
                          <a:solidFill>
                            <a:schemeClr val="tx1"/>
                          </a:solidFill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  <a:sym typeface="Wingdings 3"/>
                        </a:rPr>
                        <a:t> </a:t>
                      </a:r>
                      <a:r>
                        <a:rPr lang="en-US" altLang="ko-KR" sz="900" b="1" kern="0" dirty="0" err="1" smtClean="0">
                          <a:solidFill>
                            <a:schemeClr val="tx1"/>
                          </a:solidFill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  <a:sym typeface="Wingdings 3"/>
                        </a:rPr>
                        <a:t>KAMServer</a:t>
                      </a:r>
                      <a:endParaRPr lang="en-US" altLang="ko-KR" sz="900" b="1" kern="0" dirty="0" smtClean="0">
                        <a:solidFill>
                          <a:schemeClr val="tx1"/>
                        </a:solidFill>
                        <a:latin typeface="MS Shell Dlg 2" pitchFamily="34" charset="0"/>
                        <a:ea typeface="MS Shell Dlg 2" pitchFamily="34" charset="0"/>
                        <a:cs typeface="MS Shell Dlg 2" pitchFamily="34" charset="0"/>
                        <a:sym typeface="Wingdings 3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5">
                        <a:lumMod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106052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[SEND]</a:t>
                      </a:r>
                    </a:p>
                    <a:p>
                      <a:pPr marL="0" marR="0" indent="0" algn="l" defTabSz="106052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Cat.M1</a:t>
                      </a:r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  <a:sym typeface="Wingdings 3"/>
                        </a:rPr>
                        <a:t></a:t>
                      </a:r>
                      <a:r>
                        <a:rPr lang="en-US" altLang="ko-KR" sz="900" b="1" kern="0" dirty="0" smtClean="0">
                          <a:solidFill>
                            <a:schemeClr val="tx1"/>
                          </a:solidFill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  <a:sym typeface="Wingdings 3"/>
                        </a:rPr>
                        <a:t> </a:t>
                      </a:r>
                      <a:r>
                        <a:rPr lang="en-US" altLang="ko-KR" sz="900" b="1" kern="0" dirty="0" err="1" smtClean="0">
                          <a:solidFill>
                            <a:schemeClr val="tx1"/>
                          </a:solidFill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  <a:sym typeface="Wingdings 3"/>
                        </a:rPr>
                        <a:t>KAMServer</a:t>
                      </a:r>
                      <a:endParaRPr lang="en-US" altLang="ko-KR" sz="900" b="1" kern="0" dirty="0" smtClean="0">
                        <a:solidFill>
                          <a:schemeClr val="tx1"/>
                        </a:solidFill>
                        <a:latin typeface="MS Shell Dlg 2" pitchFamily="34" charset="0"/>
                        <a:ea typeface="MS Shell Dlg 2" pitchFamily="34" charset="0"/>
                        <a:cs typeface="MS Shell Dlg 2" pitchFamily="34" charset="0"/>
                        <a:sym typeface="Wingdings 3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참고</a:t>
                      </a:r>
                      <a:endParaRPr lang="ko-KR" altLang="en-US" sz="900" b="1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2160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Short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Full</a:t>
                      </a:r>
                      <a:endParaRPr lang="ko-KR" altLang="en-US" sz="900" b="1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Short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Full</a:t>
                      </a:r>
                      <a:endParaRPr lang="ko-KR" altLang="en-US" sz="900" b="1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미사용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4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“FACT”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prefix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, </a:t>
                      </a:r>
                      <a:r>
                        <a:rPr lang="ko-KR" altLang="en-US" sz="900" b="1" dirty="0" err="1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고정값</a:t>
                      </a:r>
                      <a:endParaRPr lang="ko-KR" altLang="en-US" sz="900" b="1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3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가변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“1808300090243f”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LTE USIM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Universal</a:t>
                      </a:r>
                      <a:r>
                        <a:rPr lang="en-US" altLang="ko-KR" sz="900" baseline="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 Subscriber Identity Module, </a:t>
                      </a:r>
                      <a:r>
                        <a:rPr lang="ko-KR" altLang="en-US" sz="900" baseline="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가입자 구별번호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5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4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100.77.55.33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RPCS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장비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IP (</a:t>
                      </a:r>
                      <a:r>
                        <a:rPr lang="en-US" altLang="ko-KR" sz="900" dirty="0" err="1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htonl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)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err="1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htonl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(Host</a:t>
                      </a:r>
                      <a:r>
                        <a:rPr lang="en-US" altLang="ko-KR" sz="900" baseline="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 to Network Long)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1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marL="0" marR="0" indent="0" algn="ctr" defTabSz="106052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가변</a:t>
                      </a: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“V108”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RPCS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장비모델명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4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가변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“358777070000337”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LTE IMEI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International</a:t>
                      </a:r>
                      <a:r>
                        <a:rPr lang="en-US" altLang="ko-KR" sz="900" baseline="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 Mobile Equipment Identity, </a:t>
                      </a:r>
                      <a:r>
                        <a:rPr lang="ko-KR" altLang="en-US" sz="900" baseline="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단말기 고유 일련번호</a:t>
                      </a:r>
                      <a:r>
                        <a:rPr lang="en-US" altLang="ko-KR" sz="900" baseline="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 (</a:t>
                      </a:r>
                      <a:r>
                        <a:rPr lang="ko-KR" altLang="en-US" sz="900" baseline="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단말기 제조사번호</a:t>
                      </a:r>
                      <a:r>
                        <a:rPr lang="en-US" altLang="ko-KR" sz="900" baseline="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+</a:t>
                      </a:r>
                      <a:r>
                        <a:rPr lang="ko-KR" altLang="en-US" sz="900" baseline="0" dirty="0" err="1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모델등의</a:t>
                      </a:r>
                      <a:r>
                        <a:rPr lang="ko-KR" altLang="en-US" sz="900" baseline="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 정보를 포함</a:t>
                      </a:r>
                      <a:r>
                        <a:rPr lang="en-US" altLang="ko-KR" sz="900" baseline="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)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2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가변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“3000033”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LTE 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Serial Number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9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가변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“SIM-TI2B1”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LTE </a:t>
                      </a:r>
                      <a:r>
                        <a:rPr lang="ko-KR" altLang="en-US" sz="900" dirty="0" err="1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모듈명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6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2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40002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SSH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서버 접속 포트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 (</a:t>
                      </a:r>
                      <a:r>
                        <a:rPr lang="en-US" altLang="ko-KR" sz="900" dirty="0" err="1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htons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)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marL="85725" indent="-85725" latinLnBrk="1">
                        <a:buFontTx/>
                        <a:buChar char="-"/>
                      </a:pP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SSH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접속정보는 </a:t>
                      </a:r>
                      <a:r>
                        <a:rPr lang="en-US" altLang="ko-KR" sz="900" dirty="0" err="1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KAMServer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 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환경설정 파일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(xml)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에서 변경 가능</a:t>
                      </a:r>
                      <a:endParaRPr lang="en-US" altLang="ko-KR" sz="900" dirty="0" smtClean="0">
                        <a:latin typeface="MS Shell Dlg 2" pitchFamily="34" charset="0"/>
                        <a:ea typeface="MS Shell Dlg 2" pitchFamily="34" charset="0"/>
                        <a:cs typeface="MS Shell Dlg 2" pitchFamily="34" charset="0"/>
                      </a:endParaRPr>
                    </a:p>
                    <a:p>
                      <a:pPr marL="85725" indent="-85725" latinLnBrk="1">
                        <a:buFontTx/>
                        <a:buChar char="-"/>
                      </a:pP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접속 계정은 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Windows 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계정 사용</a:t>
                      </a:r>
                      <a:endParaRPr lang="en-US" altLang="ko-KR" sz="900" dirty="0" smtClean="0">
                        <a:latin typeface="MS Shell Dlg 2" pitchFamily="34" charset="0"/>
                        <a:ea typeface="MS Shell Dlg 2" pitchFamily="34" charset="0"/>
                        <a:cs typeface="MS Shell Dlg 2" pitchFamily="34" charset="0"/>
                      </a:endParaRPr>
                    </a:p>
                    <a:p>
                      <a:pPr marL="85725" indent="-85725" latinLnBrk="1">
                        <a:buFontTx/>
                        <a:buChar char="-"/>
                      </a:pP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패스워드 </a:t>
                      </a:r>
                      <a:r>
                        <a:rPr lang="ko-KR" altLang="en-US" sz="900" dirty="0" err="1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변경시마다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 </a:t>
                      </a:r>
                      <a:r>
                        <a:rPr lang="ko-KR" altLang="en-US" sz="900" dirty="0" err="1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환경설정값을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 수정하여 </a:t>
                      </a:r>
                      <a:r>
                        <a:rPr lang="en-US" altLang="ko-KR" sz="900" dirty="0" err="1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KAMServer</a:t>
                      </a:r>
                      <a:r>
                        <a:rPr lang="en-US" altLang="ko-KR" sz="900" baseline="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 </a:t>
                      </a:r>
                      <a:r>
                        <a:rPr lang="ko-KR" altLang="en-US" sz="900" baseline="0" dirty="0" err="1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재기동</a:t>
                      </a:r>
                      <a:r>
                        <a:rPr lang="ko-KR" altLang="en-US" sz="900" baseline="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 필요</a:t>
                      </a:r>
                      <a:endParaRPr lang="en-US" altLang="ko-KR" sz="900" dirty="0" smtClean="0">
                        <a:latin typeface="MS Shell Dlg 2" pitchFamily="34" charset="0"/>
                        <a:ea typeface="MS Shell Dlg 2" pitchFamily="34" charset="0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7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21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“catm1.skbroadband.com”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SSH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서버 접속 주소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, </a:t>
                      </a:r>
                      <a:r>
                        <a:rPr lang="ko-KR" altLang="en-US" sz="900" b="1" dirty="0" err="1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고정값</a:t>
                      </a:r>
                      <a:endParaRPr lang="ko-KR" altLang="en-US" sz="900" b="1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8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1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0x01 (open)</a:t>
                      </a:r>
                    </a:p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0xFF (close)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SSH </a:t>
                      </a:r>
                      <a:r>
                        <a:rPr lang="ko-KR" altLang="en-US" sz="900" dirty="0" err="1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터널링</a:t>
                      </a:r>
                      <a:r>
                        <a:rPr lang="ko-KR" altLang="en-US" sz="900" baseline="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 요청 옵션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0x01 (1) : SSH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터널 생성 요청</a:t>
                      </a:r>
                      <a:endParaRPr lang="en-US" altLang="ko-KR" sz="900" dirty="0" smtClean="0">
                        <a:latin typeface="MS Shell Dlg 2" pitchFamily="34" charset="0"/>
                        <a:ea typeface="MS Shell Dlg 2" pitchFamily="34" charset="0"/>
                        <a:cs typeface="MS Shell Dlg 2" pitchFamily="34" charset="0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0xFF (255):SSH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터널 닫기 요청</a:t>
                      </a: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10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2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40101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SSH </a:t>
                      </a:r>
                      <a:r>
                        <a:rPr lang="ko-KR" altLang="en-US" sz="900" dirty="0" err="1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터널링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 포트번호 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(</a:t>
                      </a:r>
                      <a:r>
                        <a:rPr lang="en-US" altLang="ko-KR" sz="900" dirty="0" err="1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htons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)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40101~40300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까지 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SSH</a:t>
                      </a:r>
                      <a:r>
                        <a:rPr lang="ko-KR" altLang="en-US" sz="900" dirty="0" err="1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터널링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 포트로 사용가능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11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가변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f_v2010!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SSH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서버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 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접속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ID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12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가변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err="1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xxx@xxxxx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SSH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서버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 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접속 패스워드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FACT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서버군 비밀번호 정책에 따라 </a:t>
                      </a:r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2</a:t>
                      </a:r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개월</a:t>
                      </a:r>
                      <a:r>
                        <a:rPr lang="ko-KR" altLang="en-US" sz="900" baseline="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 마다 변경됨</a:t>
                      </a:r>
                      <a:r>
                        <a:rPr lang="en-US" altLang="ko-KR" sz="900" baseline="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, </a:t>
                      </a:r>
                      <a:r>
                        <a:rPr lang="ko-KR" altLang="en-US" sz="900" baseline="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변경된 </a:t>
                      </a:r>
                      <a:r>
                        <a:rPr lang="ko-KR" altLang="en-US" sz="900" baseline="0" dirty="0" err="1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패스워드값</a:t>
                      </a:r>
                      <a:r>
                        <a:rPr lang="ko-KR" altLang="en-US" sz="900" baseline="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 전송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smtClean="0">
                          <a:latin typeface="MS Shell Dlg 2" pitchFamily="34" charset="0"/>
                          <a:ea typeface="굴림" pitchFamily="50" charset="-127"/>
                          <a:cs typeface="MS Shell Dlg 2" pitchFamily="34" charset="0"/>
                        </a:rPr>
                        <a:t>미사용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1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0x00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End of Data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>
                          <a:latin typeface="MS Shell Dlg 2" pitchFamily="34" charset="0"/>
                          <a:ea typeface="MS Shell Dlg 2" pitchFamily="34" charset="0"/>
                          <a:cs typeface="MS Shell Dlg 2" pitchFamily="34" charset="0"/>
                        </a:rPr>
                        <a:t>O</a:t>
                      </a:r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>
                    <a:solidFill>
                      <a:srgbClr val="FBFB8D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MS Shell Dlg 2" pitchFamily="34" charset="0"/>
                        <a:ea typeface="굴림" pitchFamily="50" charset="-127"/>
                        <a:cs typeface="MS Shell Dlg 2" pitchFamily="34" charset="0"/>
                      </a:endParaRPr>
                    </a:p>
                  </a:txBody>
                  <a:tcPr marL="36000" marR="36000" marT="72000" marB="72000" anchor="ctr"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360437" y="649605"/>
            <a:ext cx="339419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Char char="l"/>
              <a:tabLst/>
            </a:pPr>
            <a:r>
              <a:rPr kumimoji="1" lang="en-US" altLang="ko-KR" sz="10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</a:rPr>
              <a:t>TLV(Type/Tag</a:t>
            </a:r>
            <a:r>
              <a:rPr lang="en-US" altLang="ko-KR" sz="1000" kern="0" dirty="0" smtClean="0">
                <a:solidFill>
                  <a:schemeClr val="tx1"/>
                </a:solidFill>
                <a:latin typeface="+mj-ea"/>
                <a:ea typeface="+mj-ea"/>
              </a:rPr>
              <a:t> and </a:t>
            </a:r>
            <a:r>
              <a:rPr kumimoji="1" lang="en-US" altLang="ko-KR" sz="10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</a:rPr>
              <a:t>Length</a:t>
            </a:r>
            <a:r>
              <a:rPr kumimoji="1" lang="en-US" altLang="ko-KR" sz="100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</a:rPr>
              <a:t> and </a:t>
            </a:r>
            <a:r>
              <a:rPr kumimoji="1" lang="en-US" altLang="ko-KR" sz="100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ea"/>
                <a:ea typeface="+mj-ea"/>
              </a:rPr>
              <a:t>Value) </a:t>
            </a:r>
            <a:r>
              <a:rPr lang="ko-KR" altLang="en-US" sz="1000" kern="0" noProof="0" dirty="0" smtClean="0">
                <a:solidFill>
                  <a:schemeClr val="tx1"/>
                </a:solidFill>
                <a:latin typeface="+mj-ea"/>
                <a:ea typeface="+mj-ea"/>
              </a:rPr>
              <a:t>형식으로 표현</a:t>
            </a:r>
            <a:endParaRPr lang="en-US" altLang="ko-KR" sz="1000" kern="0" noProof="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Char char="l"/>
              <a:tabLst/>
            </a:pPr>
            <a:r>
              <a:rPr lang="ko-KR" altLang="en-US" sz="1000" kern="0" noProof="0" dirty="0" smtClean="0">
                <a:solidFill>
                  <a:schemeClr val="tx1"/>
                </a:solidFill>
                <a:latin typeface="+mj-ea"/>
                <a:ea typeface="+mj-ea"/>
              </a:rPr>
              <a:t>값 전송순서</a:t>
            </a:r>
            <a:r>
              <a:rPr lang="ko-KR" altLang="en-US" sz="1000" kern="0" dirty="0">
                <a:solidFill>
                  <a:schemeClr val="tx1"/>
                </a:solidFill>
                <a:latin typeface="+mj-ea"/>
                <a:ea typeface="+mj-ea"/>
              </a:rPr>
              <a:t>는</a:t>
            </a:r>
            <a:r>
              <a:rPr lang="ko-KR" altLang="en-US" sz="1000" kern="0" noProof="0" dirty="0" smtClean="0">
                <a:solidFill>
                  <a:schemeClr val="tx1"/>
                </a:solidFill>
                <a:latin typeface="+mj-ea"/>
                <a:ea typeface="+mj-ea"/>
              </a:rPr>
              <a:t> 무관</a:t>
            </a:r>
            <a:endParaRPr kumimoji="1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 bwMode="auto">
          <a:xfrm>
            <a:off x="3744813" y="649605"/>
            <a:ext cx="222240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Char char="l"/>
              <a:tabLst/>
            </a:pPr>
            <a:r>
              <a:rPr lang="en-US" altLang="ko-KR" sz="1000" kern="0" dirty="0" smtClean="0">
                <a:solidFill>
                  <a:schemeClr val="tx1"/>
                </a:solidFill>
                <a:latin typeface="+mj-ea"/>
                <a:ea typeface="+mj-ea"/>
              </a:rPr>
              <a:t>Text Encoding </a:t>
            </a:r>
            <a:r>
              <a:rPr lang="en-US" altLang="ko-KR" sz="1000" kern="0" dirty="0" smtClean="0">
                <a:solidFill>
                  <a:schemeClr val="tx1"/>
                </a:solidFill>
                <a:latin typeface="+mj-ea"/>
                <a:ea typeface="+mj-ea"/>
              </a:rPr>
              <a:t>: </a:t>
            </a:r>
            <a:r>
              <a:rPr lang="en-US" altLang="ko-KR" sz="1000" kern="0" dirty="0" smtClean="0">
                <a:solidFill>
                  <a:schemeClr val="tx1"/>
                </a:solidFill>
                <a:latin typeface="+mj-ea"/>
                <a:ea typeface="+mj-ea"/>
              </a:rPr>
              <a:t>ASCII</a:t>
            </a:r>
          </a:p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Char char="l"/>
              <a:tabLst/>
            </a:pPr>
            <a:r>
              <a:rPr lang="en-US" altLang="ko-KR" sz="1000" kern="0" dirty="0" smtClean="0">
                <a:solidFill>
                  <a:schemeClr val="tx1"/>
                </a:solidFill>
                <a:latin typeface="+mj-ea"/>
                <a:ea typeface="+mj-ea"/>
              </a:rPr>
              <a:t>String </a:t>
            </a:r>
            <a:r>
              <a:rPr lang="ko-KR" altLang="en-US" sz="1000" kern="0" dirty="0" smtClean="0">
                <a:solidFill>
                  <a:schemeClr val="tx1"/>
                </a:solidFill>
                <a:latin typeface="+mj-ea"/>
                <a:ea typeface="+mj-ea"/>
              </a:rPr>
              <a:t>데이터는 끝에 </a:t>
            </a:r>
            <a:r>
              <a:rPr lang="en-US" altLang="ko-KR" sz="1000" kern="0" dirty="0" smtClean="0">
                <a:solidFill>
                  <a:schemeClr val="tx1"/>
                </a:solidFill>
                <a:latin typeface="+mj-ea"/>
                <a:ea typeface="+mj-ea"/>
              </a:rPr>
              <a:t>NULL </a:t>
            </a:r>
            <a:r>
              <a:rPr lang="ko-KR" altLang="en-US" sz="1000" kern="0" dirty="0" smtClean="0">
                <a:solidFill>
                  <a:schemeClr val="tx1"/>
                </a:solidFill>
                <a:latin typeface="+mj-ea"/>
                <a:ea typeface="+mj-ea"/>
              </a:rPr>
              <a:t>제외</a:t>
            </a:r>
            <a:endParaRPr kumimoji="1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62701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/>
          <p:cNvSpPr/>
          <p:nvPr/>
        </p:nvSpPr>
        <p:spPr bwMode="auto">
          <a:xfrm>
            <a:off x="1189868" y="3750837"/>
            <a:ext cx="5858523" cy="2218847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b" anchorCtr="0" compatLnSpc="1">
            <a:prstTxWarp prst="textNoShape">
              <a:avLst/>
            </a:prstTxWarp>
            <a:noAutofit/>
          </a:bodyPr>
          <a:lstStyle/>
          <a:p>
            <a:pPr marL="1800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b="1" dirty="0" smtClean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TACT-KAM Server</a:t>
            </a:r>
            <a:endParaRPr kumimoji="0" lang="en-US" altLang="ko-KR" sz="1000" b="1" dirty="0">
              <a:solidFill>
                <a:prstClr val="black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80000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118.217.79.23</a:t>
            </a:r>
            <a:endParaRPr kumimoji="0" lang="en-US" altLang="ko-KR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[TACT</a:t>
            </a:r>
            <a:r>
              <a:rPr lang="en-US" altLang="ko-KR" dirty="0" smtClean="0"/>
              <a:t>] </a:t>
            </a:r>
            <a:r>
              <a:rPr lang="en-US" altLang="ko-KR" dirty="0" smtClean="0"/>
              <a:t>c-RPCS</a:t>
            </a:r>
            <a:r>
              <a:rPr lang="ko-KR" altLang="en-US" dirty="0" smtClean="0"/>
              <a:t>장비에 </a:t>
            </a:r>
            <a:r>
              <a:rPr lang="en-US" altLang="ko-KR" dirty="0" smtClean="0"/>
              <a:t>LTE</a:t>
            </a:r>
            <a:r>
              <a:rPr lang="ko-KR" altLang="en-US" dirty="0" smtClean="0"/>
              <a:t>접속 </a:t>
            </a:r>
            <a:r>
              <a:rPr lang="ko-KR" altLang="en-US" dirty="0" smtClean="0"/>
              <a:t>흐름도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smtClean="0"/>
              <a:t>2019/07/01</a:t>
            </a:r>
            <a:endParaRPr lang="ko-KR" altLang="en-US" dirty="0"/>
          </a:p>
        </p:txBody>
      </p:sp>
      <p:grpSp>
        <p:nvGrpSpPr>
          <p:cNvPr id="4" name="그룹 3"/>
          <p:cNvGrpSpPr>
            <a:grpSpLocks/>
          </p:cNvGrpSpPr>
          <p:nvPr/>
        </p:nvGrpSpPr>
        <p:grpSpPr bwMode="auto">
          <a:xfrm>
            <a:off x="1582547" y="1554185"/>
            <a:ext cx="936625" cy="874712"/>
            <a:chOff x="6372002" y="2985779"/>
            <a:chExt cx="936302" cy="875269"/>
          </a:xfrm>
        </p:grpSpPr>
        <p:pic>
          <p:nvPicPr>
            <p:cNvPr id="5" name="그림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2528" y="2985779"/>
              <a:ext cx="469751" cy="547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121"/>
            <p:cNvSpPr txBox="1">
              <a:spLocks noChangeArrowheads="1"/>
            </p:cNvSpPr>
            <p:nvPr/>
          </p:nvSpPr>
          <p:spPr bwMode="gray">
            <a:xfrm>
              <a:off x="6372002" y="3460744"/>
              <a:ext cx="936302" cy="400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 latinLnBrk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MS Shell Dlg 2" pitchFamily="34" charset="0"/>
                  <a:ea typeface="굴림" pitchFamily="50" charset="-127"/>
                  <a:cs typeface="MS Shell Dlg 2" pitchFamily="34" charset="0"/>
                </a:rPr>
                <a:t>운영자</a:t>
              </a:r>
              <a:r>
                <a:rPr kumimoji="0" lang="en-US" altLang="ko-KR" sz="1000" dirty="0">
                  <a:effectLst>
                    <a:outerShdw blurRad="38100" dist="38100" dir="2700000" algn="tl">
                      <a:srgbClr val="C0C0C0"/>
                    </a:outerShdw>
                  </a:effectLst>
                  <a:latin typeface="MS Shell Dlg 2" pitchFamily="34" charset="0"/>
                  <a:ea typeface="MS Shell Dlg 2" pitchFamily="34" charset="0"/>
                  <a:cs typeface="MS Shell Dlg 2" pitchFamily="34" charset="0"/>
                </a:rPr>
                <a:t>(Web/Client)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31E7779-8D0E-43DE-A342-AC3EDB36EBD3}"/>
              </a:ext>
            </a:extLst>
          </p:cNvPr>
          <p:cNvGrpSpPr/>
          <p:nvPr/>
        </p:nvGrpSpPr>
        <p:grpSpPr>
          <a:xfrm>
            <a:off x="5066072" y="1429641"/>
            <a:ext cx="730969" cy="805740"/>
            <a:chOff x="4086900" y="1663777"/>
            <a:chExt cx="730969" cy="805740"/>
          </a:xfrm>
        </p:grpSpPr>
        <p:pic>
          <p:nvPicPr>
            <p:cNvPr id="11" name="Picture 11" descr="C:\Users\ecoffey\AppData\Local\Temp\Rar$DRa0.807\30035_Device_ibm_mainframe_default_64.png">
              <a:extLst>
                <a:ext uri="{FF2B5EF4-FFF2-40B4-BE49-F238E27FC236}">
                  <a16:creationId xmlns="" xmlns:a16="http://schemas.microsoft.com/office/drawing/2014/main" id="{A74D8046-717C-4BA3-BF02-F9D4E49AD1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08542" y="1981837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제목 1">
              <a:extLst>
                <a:ext uri="{FF2B5EF4-FFF2-40B4-BE49-F238E27FC236}">
                  <a16:creationId xmlns="" xmlns:a16="http://schemas.microsoft.com/office/drawing/2014/main" id="{19CBB4BA-7F68-4659-B414-EB53558D9758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4086900" y="1663777"/>
              <a:ext cx="730969" cy="3000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1050" b="1" dirty="0" smtClean="0">
                  <a:solidFill>
                    <a:prstClr val="black"/>
                  </a:solidFill>
                  <a:latin typeface="MS Shell Dlg 2" pitchFamily="34" charset="0"/>
                  <a:ea typeface="MS Shell Dlg 2" pitchFamily="34" charset="0"/>
                  <a:cs typeface="MS Shell Dlg 2" pitchFamily="34" charset="0"/>
                </a:rPr>
                <a:t>TACT </a:t>
              </a:r>
              <a:r>
                <a:rPr kumimoji="0" lang="ko-KR" altLang="en-US" sz="1050" b="1" dirty="0" smtClean="0">
                  <a:solidFill>
                    <a:prstClr val="black"/>
                  </a:solidFill>
                  <a:latin typeface="MS Shell Dlg 2" pitchFamily="34" charset="0"/>
                  <a:ea typeface="굴림" pitchFamily="50" charset="-127"/>
                  <a:cs typeface="MS Shell Dlg 2" pitchFamily="34" charset="0"/>
                </a:rPr>
                <a:t>서버</a:t>
              </a:r>
              <a:endParaRPr kumimoji="0" lang="en-US" altLang="ko-KR" sz="1050" b="1" dirty="0" smtClean="0">
                <a:solidFill>
                  <a:prstClr val="black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900" dirty="0" smtClean="0">
                  <a:solidFill>
                    <a:prstClr val="black"/>
                  </a:solidFill>
                  <a:latin typeface="MS Shell Dlg 2" pitchFamily="34" charset="0"/>
                  <a:ea typeface="MS Shell Dlg 2" pitchFamily="34" charset="0"/>
                  <a:cs typeface="MS Shell Dlg 2" pitchFamily="34" charset="0"/>
                </a:rPr>
                <a:t>118.217.79.41</a:t>
              </a:r>
            </a:p>
          </p:txBody>
        </p:sp>
      </p:grpSp>
      <p:cxnSp>
        <p:nvCxnSpPr>
          <p:cNvPr id="23" name="직선 화살표 연결선 22">
            <a:extLst>
              <a:ext uri="{FF2B5EF4-FFF2-40B4-BE49-F238E27FC236}">
                <a16:creationId xmlns="" xmlns:a16="http://schemas.microsoft.com/office/drawing/2014/main" id="{AE7B012F-B494-45AB-B536-4F26C1B26FA5}"/>
              </a:ext>
            </a:extLst>
          </p:cNvPr>
          <p:cNvCxnSpPr/>
          <p:nvPr/>
        </p:nvCxnSpPr>
        <p:spPr>
          <a:xfrm>
            <a:off x="2532889" y="1910873"/>
            <a:ext cx="2461578" cy="1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28" name="제목 1">
            <a:extLst>
              <a:ext uri="{FF2B5EF4-FFF2-40B4-BE49-F238E27FC236}">
                <a16:creationId xmlns="" xmlns:a16="http://schemas.microsoft.com/office/drawing/2014/main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2556681" y="1733571"/>
            <a:ext cx="135293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1) [REQ]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장비접속 요청</a:t>
            </a:r>
            <a:endParaRPr kumimoji="0" lang="en-US" sz="1000" dirty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="" xmlns:a16="http://schemas.microsoft.com/office/drawing/2014/main" id="{AE7B012F-B494-45AB-B536-4F26C1B26FA5}"/>
              </a:ext>
            </a:extLst>
          </p:cNvPr>
          <p:cNvCxnSpPr/>
          <p:nvPr/>
        </p:nvCxnSpPr>
        <p:spPr>
          <a:xfrm>
            <a:off x="6300563" y="4442338"/>
            <a:ext cx="3262113" cy="65246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36" name="제목 1">
            <a:extLst>
              <a:ext uri="{FF2B5EF4-FFF2-40B4-BE49-F238E27FC236}">
                <a16:creationId xmlns="" xmlns:a16="http://schemas.microsoft.com/office/drawing/2014/main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6611975" y="4165142"/>
            <a:ext cx="305853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5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터널</a:t>
            </a:r>
            <a:r>
              <a:rPr kumimoji="0" lang="en-US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생성 요청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kumimoji="0" lang="en-US" altLang="ko-KR" sz="1000" dirty="0" err="1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replay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이용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, </a:t>
            </a:r>
            <a:r>
              <a:rPr kumimoji="0" lang="ko-KR" altLang="en-US" sz="1000" dirty="0" err="1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터널링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 포트 전</a:t>
            </a:r>
            <a:r>
              <a:rPr kumimoji="0" lang="ko-KR" altLang="en-US" sz="1000" dirty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달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</a:p>
        </p:txBody>
      </p:sp>
      <p:sp>
        <p:nvSpPr>
          <p:cNvPr id="43" name="제목 1">
            <a:extLst>
              <a:ext uri="{FF2B5EF4-FFF2-40B4-BE49-F238E27FC236}">
                <a16:creationId xmlns="" xmlns:a16="http://schemas.microsoft.com/office/drawing/2014/main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1393257" y="4913175"/>
            <a:ext cx="141545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9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 연결 </a:t>
            </a:r>
            <a:endParaRPr kumimoji="0" lang="en-US" altLang="ko-KR" sz="1000" dirty="0" smtClean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 smtClean="0"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  telnet localhost:40101</a:t>
            </a:r>
          </a:p>
        </p:txBody>
      </p:sp>
      <p:sp>
        <p:nvSpPr>
          <p:cNvPr id="20" name="원호 19"/>
          <p:cNvSpPr/>
          <p:nvPr/>
        </p:nvSpPr>
        <p:spPr>
          <a:xfrm rot="6240000" flipH="1">
            <a:off x="6111444" y="4453669"/>
            <a:ext cx="385668" cy="381221"/>
          </a:xfrm>
          <a:prstGeom prst="arc">
            <a:avLst>
              <a:gd name="adj1" fmla="val 3245749"/>
              <a:gd name="adj2" fmla="val 20557642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  <p:txBody>
          <a:bodyPr rtlCol="0" anchor="ctr"/>
          <a:lstStyle/>
          <a:p>
            <a:pPr algn="ctr"/>
            <a:endParaRPr lang="ko-KR" altLang="en-US">
              <a:latin typeface="MS Shell Dlg 2" pitchFamily="34" charset="0"/>
              <a:cs typeface="MS Shell Dlg 2" pitchFamily="34" charset="0"/>
            </a:endParaRPr>
          </a:p>
        </p:txBody>
      </p:sp>
      <p:sp>
        <p:nvSpPr>
          <p:cNvPr id="31" name="모서리가 둥근 직사각형 30"/>
          <p:cNvSpPr/>
          <p:nvPr/>
        </p:nvSpPr>
        <p:spPr bwMode="auto">
          <a:xfrm>
            <a:off x="5362804" y="4019620"/>
            <a:ext cx="1159984" cy="45721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</a:t>
            </a:r>
            <a:r>
              <a:rPr lang="ko-KR" altLang="en-US" sz="1050" b="1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</a:t>
            </a:r>
            <a:r>
              <a:rPr lang="en-US" altLang="ko-KR" sz="1050" b="1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</a:t>
            </a:r>
            <a:endParaRPr kumimoji="1" lang="ko-KR" altLang="en-US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cs typeface="MS Shell Dlg 2" pitchFamily="34" charset="0"/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="" xmlns:a16="http://schemas.microsoft.com/office/drawing/2014/main" id="{AE7B012F-B494-45AB-B536-4F26C1B26FA5}"/>
              </a:ext>
            </a:extLst>
          </p:cNvPr>
          <p:cNvCxnSpPr/>
          <p:nvPr/>
        </p:nvCxnSpPr>
        <p:spPr>
          <a:xfrm flipH="1">
            <a:off x="2532889" y="1997959"/>
            <a:ext cx="2474706" cy="322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68" name="제목 1">
            <a:extLst>
              <a:ext uri="{FF2B5EF4-FFF2-40B4-BE49-F238E27FC236}">
                <a16:creationId xmlns="" xmlns:a16="http://schemas.microsoft.com/office/drawing/2014/main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6468489" y="4669198"/>
            <a:ext cx="1316066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7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터널포트 생성 감지</a:t>
            </a:r>
            <a:endParaRPr kumimoji="0" lang="en-US" sz="1000" dirty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85" name="제목 1">
            <a:extLst>
              <a:ext uri="{FF2B5EF4-FFF2-40B4-BE49-F238E27FC236}">
                <a16:creationId xmlns="" xmlns:a16="http://schemas.microsoft.com/office/drawing/2014/main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3030790" y="2019655"/>
            <a:ext cx="201016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000" dirty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2</a:t>
            </a:r>
            <a:r>
              <a:rPr kumimoji="0" lang="en-US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 [RES]</a:t>
            </a:r>
            <a:r>
              <a:rPr kumimoji="0" lang="ko-KR" altLang="en-US" sz="1000" dirty="0" err="1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데몬할당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/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장비접속 정보</a:t>
            </a:r>
            <a:endParaRPr kumimoji="0" lang="en-US" altLang="ko-KR" sz="1000" dirty="0" smtClean="0">
              <a:solidFill>
                <a:srgbClr val="0000FF"/>
              </a:solidFill>
              <a:latin typeface="MS Shell Dlg 2" pitchFamily="34" charset="0"/>
              <a:ea typeface="굴림" pitchFamily="50" charset="-127"/>
              <a:cs typeface="MS Shell Dlg 2" pitchFamily="34" charset="0"/>
            </a:endParaRP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(LTE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접속인 경우 전용 </a:t>
            </a:r>
            <a:r>
              <a:rPr kumimoji="0" lang="ko-KR" altLang="en-US" sz="1000" dirty="0" err="1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데몬을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 할당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)</a:t>
            </a:r>
            <a:endParaRPr kumimoji="0" lang="en-US" sz="1000" dirty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="" xmlns:a16="http://schemas.microsoft.com/office/drawing/2014/main" id="{AE7B012F-B494-45AB-B536-4F26C1B26FA5}"/>
              </a:ext>
            </a:extLst>
          </p:cNvPr>
          <p:cNvCxnSpPr/>
          <p:nvPr/>
        </p:nvCxnSpPr>
        <p:spPr>
          <a:xfrm>
            <a:off x="2164833" y="2428897"/>
            <a:ext cx="0" cy="166119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91" name="제목 1">
            <a:extLst>
              <a:ext uri="{FF2B5EF4-FFF2-40B4-BE49-F238E27FC236}">
                <a16:creationId xmlns="" xmlns:a16="http://schemas.microsoft.com/office/drawing/2014/main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2196641" y="2543456"/>
            <a:ext cx="1352934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3) [REQ]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장비접속 요청</a:t>
            </a:r>
            <a:endParaRPr kumimoji="0" lang="en-US" sz="1000" dirty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pic>
        <p:nvPicPr>
          <p:cNvPr id="96" name="Picture 11" descr="C:\Users\ecoffey\AppData\Local\Temp\Rar$DRa0.807\30035_Device_ibm_mainframe_default_64.png">
            <a:extLst>
              <a:ext uri="{FF2B5EF4-FFF2-40B4-BE49-F238E27FC236}">
                <a16:creationId xmlns="" xmlns:a16="http://schemas.microsoft.com/office/drawing/2014/main" id="{A74D8046-717C-4BA3-BF02-F9D4E49AD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134" y="5617749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모서리가 둥근 사각형 설명선 97"/>
          <p:cNvSpPr/>
          <p:nvPr/>
        </p:nvSpPr>
        <p:spPr bwMode="auto">
          <a:xfrm>
            <a:off x="7579968" y="3499781"/>
            <a:ext cx="3329641" cy="455008"/>
          </a:xfrm>
          <a:prstGeom prst="wedgeRoundRectCallout">
            <a:avLst>
              <a:gd name="adj1" fmla="val -41971"/>
              <a:gd name="adj2" fmla="val 101516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  <a:buFontTx/>
              <a:buChar char="-"/>
            </a:pPr>
            <a:r>
              <a:rPr lang="ko-KR" altLang="en-US" sz="100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터널이 생성되면 </a:t>
            </a:r>
            <a:r>
              <a:rPr lang="en-US" altLang="ko-KR" sz="100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</a:t>
            </a:r>
            <a:r>
              <a:rPr lang="en-US" altLang="ko-KR" sz="10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접속은 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종료</a:t>
            </a:r>
            <a:endParaRPr lang="en-US" altLang="ko-KR" sz="10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spcBef>
                <a:spcPct val="20000"/>
              </a:spcBef>
              <a:buSzPct val="70000"/>
              <a:buFontTx/>
              <a:buChar char="-"/>
            </a:pPr>
            <a:r>
              <a:rPr lang="ko-KR" altLang="en-US" sz="1000" dirty="0" err="1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터널링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포트는 사용자가 텔넷 접속 </a:t>
            </a:r>
            <a:r>
              <a:rPr lang="ko-KR" altLang="en-US" sz="1000" dirty="0" err="1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종료시</a:t>
            </a:r>
            <a:r>
              <a:rPr lang="ko-KR" altLang="en-US" sz="100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까지 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유지</a:t>
            </a:r>
            <a:endParaRPr lang="en-US" altLang="ko-KR" sz="100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113" name="직사각형 112"/>
          <p:cNvSpPr/>
          <p:nvPr/>
        </p:nvSpPr>
        <p:spPr bwMode="auto">
          <a:xfrm>
            <a:off x="288797" y="768044"/>
            <a:ext cx="3312000" cy="252000"/>
          </a:xfrm>
          <a:prstGeom prst="rect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spcBef>
                <a:spcPct val="20000"/>
              </a:spcBef>
              <a:buSzPct val="70000"/>
            </a:pPr>
            <a:r>
              <a:rPr lang="en-US" altLang="ko-KR" sz="105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※ </a:t>
            </a:r>
            <a:r>
              <a:rPr lang="ko-KR" altLang="en-US" sz="105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기존</a:t>
            </a:r>
            <a:r>
              <a:rPr lang="en-US" altLang="ko-KR" sz="105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TACT</a:t>
            </a:r>
            <a:r>
              <a:rPr lang="ko-KR" altLang="en-US" sz="105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유</a:t>
            </a:r>
            <a:r>
              <a:rPr lang="ko-KR" altLang="en-US" sz="1050" dirty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선</a:t>
            </a:r>
            <a:r>
              <a:rPr lang="ko-KR" altLang="en-US" sz="105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접속은 </a:t>
            </a:r>
            <a:r>
              <a:rPr lang="en-US" altLang="ko-KR" sz="105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</a:t>
            </a:r>
            <a:r>
              <a:rPr lang="en-US" altLang="ko-KR" sz="105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 ~ 8) </a:t>
            </a:r>
            <a:r>
              <a:rPr lang="ko-KR" altLang="en-US" sz="1050" dirty="0" smtClean="0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생략한 과정과 동일</a:t>
            </a:r>
            <a:endParaRPr lang="en-US" altLang="ko-KR" sz="105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45" name="모서리가 둥근 직사각형 44"/>
          <p:cNvSpPr/>
          <p:nvPr/>
        </p:nvSpPr>
        <p:spPr bwMode="auto">
          <a:xfrm>
            <a:off x="3744813" y="5071545"/>
            <a:ext cx="1241013" cy="396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OpenSSH</a:t>
            </a:r>
            <a:r>
              <a:rPr lang="en-US" altLang="ko-KR" sz="1050" b="1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Sever</a:t>
            </a:r>
            <a:endParaRPr kumimoji="1" lang="ko-KR" altLang="en-US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cs typeface="MS Shell Dlg 2" pitchFamily="34" charset="0"/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="" xmlns:a16="http://schemas.microsoft.com/office/drawing/2014/main" id="{AE7B012F-B494-45AB-B536-4F26C1B26FA5}"/>
              </a:ext>
            </a:extLst>
          </p:cNvPr>
          <p:cNvCxnSpPr>
            <a:endCxn id="45" idx="3"/>
          </p:cNvCxnSpPr>
          <p:nvPr/>
        </p:nvCxnSpPr>
        <p:spPr>
          <a:xfrm flipH="1" flipV="1">
            <a:off x="4985826" y="5269545"/>
            <a:ext cx="4559412" cy="8302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ysDot"/>
            <a:tailEnd type="triangle"/>
          </a:ln>
          <a:effectLst/>
        </p:spPr>
      </p:cxnSp>
      <p:sp>
        <p:nvSpPr>
          <p:cNvPr id="56" name="제목 1">
            <a:extLst>
              <a:ext uri="{FF2B5EF4-FFF2-40B4-BE49-F238E27FC236}">
                <a16:creationId xmlns="" xmlns:a16="http://schemas.microsoft.com/office/drawing/2014/main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5352747" y="5294481"/>
            <a:ext cx="393376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6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 SSH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터널생성 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(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터널포트 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~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장비의 텔넷포트 연결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)</a:t>
            </a:r>
            <a:endParaRPr kumimoji="0" lang="en-US" altLang="ko-KR" sz="1000" dirty="0" smtClean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kumimoji="0" lang="en-US" altLang="ko-KR" sz="1000" dirty="0" err="1"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</a:t>
            </a:r>
            <a:r>
              <a:rPr kumimoji="0" lang="en-US" altLang="ko-KR" sz="1000" dirty="0"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-R </a:t>
            </a:r>
            <a:r>
              <a:rPr kumimoji="0" lang="en-US" altLang="ko-KR" sz="1000" dirty="0" err="1"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40003:localhost:23</a:t>
            </a:r>
            <a:r>
              <a:rPr kumimoji="0" lang="en-US" altLang="ko-KR" sz="1000" dirty="0"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kumimoji="0" lang="en-US" altLang="ko-KR" sz="1000" dirty="0" err="1"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user@catm1.skbroadband.com</a:t>
            </a:r>
            <a:r>
              <a:rPr kumimoji="0" lang="en-US" altLang="ko-KR" sz="1000" dirty="0"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–p </a:t>
            </a:r>
            <a:r>
              <a:rPr kumimoji="0" lang="en-US" altLang="ko-KR" sz="1000" dirty="0" smtClean="0"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40101)</a:t>
            </a:r>
            <a:endParaRPr kumimoji="0" lang="en-US" sz="1000" dirty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cxnSp>
        <p:nvCxnSpPr>
          <p:cNvPr id="62" name="구부러진 연결선 61"/>
          <p:cNvCxnSpPr>
            <a:stCxn id="52" idx="2"/>
          </p:cNvCxnSpPr>
          <p:nvPr/>
        </p:nvCxnSpPr>
        <p:spPr>
          <a:xfrm rot="5400000">
            <a:off x="6892148" y="3056008"/>
            <a:ext cx="487162" cy="5341575"/>
          </a:xfrm>
          <a:prstGeom prst="curved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ysDash"/>
            <a:headEnd type="none" w="med" len="med"/>
            <a:tailEnd type="none" w="med" len="med"/>
          </a:ln>
          <a:effectLst/>
        </p:spPr>
      </p:cxnSp>
      <p:cxnSp>
        <p:nvCxnSpPr>
          <p:cNvPr id="66" name="구부러진 연결선 65"/>
          <p:cNvCxnSpPr>
            <a:stCxn id="15" idx="1"/>
            <a:endCxn id="54" idx="2"/>
          </p:cNvCxnSpPr>
          <p:nvPr/>
        </p:nvCxnSpPr>
        <p:spPr>
          <a:xfrm rot="10800000">
            <a:off x="2123552" y="4424352"/>
            <a:ext cx="1811987" cy="1546025"/>
          </a:xfrm>
          <a:prstGeom prst="curved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ysDash"/>
            <a:headEnd type="triangle" w="med" len="med"/>
            <a:tailEnd type="none" w="med" len="med"/>
          </a:ln>
          <a:effectLst/>
        </p:spPr>
      </p:cxnSp>
      <p:grpSp>
        <p:nvGrpSpPr>
          <p:cNvPr id="3" name="그룹 2"/>
          <p:cNvGrpSpPr/>
          <p:nvPr/>
        </p:nvGrpSpPr>
        <p:grpSpPr>
          <a:xfrm>
            <a:off x="9562676" y="4775206"/>
            <a:ext cx="758241" cy="708008"/>
            <a:chOff x="8911753" y="6348004"/>
            <a:chExt cx="758241" cy="708008"/>
          </a:xfrm>
        </p:grpSpPr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xmlns="" id="{4CDFA4B4-96D8-40D1-94BE-7C520350F637}"/>
                </a:ext>
              </a:extLst>
            </p:cNvPr>
            <p:cNvGrpSpPr/>
            <p:nvPr/>
          </p:nvGrpSpPr>
          <p:grpSpPr>
            <a:xfrm>
              <a:off x="8911753" y="6451983"/>
              <a:ext cx="487680" cy="604029"/>
              <a:chOff x="6122359" y="5233275"/>
              <a:chExt cx="487680" cy="604029"/>
            </a:xfrm>
          </p:grpSpPr>
          <p:pic>
            <p:nvPicPr>
              <p:cNvPr id="52" name="Picture 11" descr="C:\Users\ecoffey\AppData\Local\Temp\Rar$DRa0.200\30050_Device_nexus5000_default_64.png">
                <a:extLst>
                  <a:ext uri="{FF2B5EF4-FFF2-40B4-BE49-F238E27FC236}">
                    <a16:creationId xmlns:a16="http://schemas.microsoft.com/office/drawing/2014/main" xmlns="" id="{999FD3F3-BCF1-4057-9FE7-6701DF9317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22359" y="5349624"/>
                <a:ext cx="487680" cy="4876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7" name="제목 1">
                <a:extLst>
                  <a:ext uri="{FF2B5EF4-FFF2-40B4-BE49-F238E27FC236}">
                    <a16:creationId xmlns:a16="http://schemas.microsoft.com/office/drawing/2014/main" xmlns="" id="{1A83D115-46D1-4D07-B264-3F7B29FFAA4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163421" y="5233275"/>
                <a:ext cx="405559" cy="153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algn="l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lang="ko-KR" altLang="en-US" sz="2000" b="1" kern="1200" smtClean="0">
                    <a:solidFill>
                      <a:schemeClr val="tx1"/>
                    </a:solidFill>
                    <a:latin typeface="+mj-lt"/>
                    <a:ea typeface="+mj-ea"/>
                    <a:cs typeface="맑은 고딕"/>
                  </a:defRPr>
                </a:lvl1pPr>
                <a:lvl2pPr algn="ctr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2pPr>
                <a:lvl3pPr algn="ctr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3pPr>
                <a:lvl4pPr algn="ctr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4pPr>
                <a:lvl5pPr algn="ctr" rtl="0" eaLnBrk="0" fontAlgn="base" latinLnBrk="1" hangingPunct="0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5pPr>
                <a:lvl6pPr marL="4572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6pPr>
                <a:lvl7pPr marL="9144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7pPr>
                <a:lvl8pPr marL="13716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8pPr>
                <a:lvl9pPr marL="1828800" algn="ctr" rtl="0" fontAlgn="base" latinLnBrk="1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1"/>
                    </a:solidFill>
                    <a:latin typeface="맑은 고딕"/>
                    <a:ea typeface="맑은 고딕"/>
                    <a:cs typeface="맑은 고딕"/>
                  </a:defRPr>
                </a:lvl9pPr>
              </a:lstStyle>
              <a:p>
                <a:pPr algn="ctr"/>
                <a:r>
                  <a:rPr lang="en-US" sz="1000" b="0" dirty="0" smtClean="0">
                    <a:latin typeface="MS Shell Dlg 2" pitchFamily="34" charset="0"/>
                    <a:ea typeface="MS Shell Dlg 2" pitchFamily="34" charset="0"/>
                    <a:cs typeface="MS Shell Dlg 2" pitchFamily="34" charset="0"/>
                  </a:rPr>
                  <a:t>c-RPCS</a:t>
                </a:r>
                <a:endParaRPr lang="en-US" sz="1000" b="0" dirty="0">
                  <a:latin typeface="MS Shell Dlg 2" pitchFamily="34" charset="0"/>
                  <a:ea typeface="MS Shell Dlg 2" pitchFamily="34" charset="0"/>
                  <a:cs typeface="MS Shell Dlg 2" pitchFamily="34" charset="0"/>
                </a:endParaRPr>
              </a:p>
            </p:txBody>
          </p:sp>
        </p:grpSp>
        <p:cxnSp>
          <p:nvCxnSpPr>
            <p:cNvPr id="48" name="연결선: 꺾임 52">
              <a:extLst>
                <a:ext uri="{FF2B5EF4-FFF2-40B4-BE49-F238E27FC236}">
                  <a16:creationId xmlns:a16="http://schemas.microsoft.com/office/drawing/2014/main" xmlns="" id="{08C235AD-75FE-4E84-984E-0E004041DA39}"/>
                </a:ext>
              </a:extLst>
            </p:cNvPr>
            <p:cNvCxnSpPr>
              <a:cxnSpLocks/>
              <a:stCxn id="49" idx="0"/>
              <a:endCxn id="52" idx="3"/>
            </p:cNvCxnSpPr>
            <p:nvPr/>
          </p:nvCxnSpPr>
          <p:spPr>
            <a:xfrm rot="5400000">
              <a:off x="9289139" y="6566599"/>
              <a:ext cx="355868" cy="135279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이등변 삼각형 48">
              <a:extLst>
                <a:ext uri="{FF2B5EF4-FFF2-40B4-BE49-F238E27FC236}">
                  <a16:creationId xmlns:a16="http://schemas.microsoft.com/office/drawing/2014/main" xmlns="" id="{9488776D-7053-4CB3-A97E-A0D5DF897D3E}"/>
                </a:ext>
              </a:extLst>
            </p:cNvPr>
            <p:cNvSpPr/>
            <p:nvPr/>
          </p:nvSpPr>
          <p:spPr>
            <a:xfrm rot="10800000">
              <a:off x="9399431" y="6348004"/>
              <a:ext cx="270563" cy="108300"/>
            </a:xfrm>
            <a:prstGeom prst="triangl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00" b="1" dirty="0" err="1">
                <a:solidFill>
                  <a:schemeClr val="tx1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endParaRPr>
            </a:p>
          </p:txBody>
        </p:sp>
      </p:grpSp>
      <p:sp>
        <p:nvSpPr>
          <p:cNvPr id="15" name="순서도: 직접 액세스 저장소 14"/>
          <p:cNvSpPr/>
          <p:nvPr/>
        </p:nvSpPr>
        <p:spPr bwMode="auto">
          <a:xfrm>
            <a:off x="3935538" y="5862376"/>
            <a:ext cx="864000" cy="216000"/>
          </a:xfrm>
          <a:prstGeom prst="flowChartMagneticDrum">
            <a:avLst/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 eaLnBrk="0" hangingPunct="0">
              <a:spcBef>
                <a:spcPct val="20000"/>
              </a:spcBef>
              <a:buSzPct val="70000"/>
            </a:pPr>
            <a:r>
              <a:rPr lang="en-US" altLang="ko-KR" sz="800" b="1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40101</a:t>
            </a:r>
            <a:endParaRPr lang="ko-KR" altLang="en-US" sz="800" b="1" dirty="0" smtClean="0">
              <a:solidFill>
                <a:schemeClr val="tx1"/>
              </a:solidFill>
              <a:latin typeface="MS Shell Dlg 2" pitchFamily="34" charset="0"/>
              <a:ea typeface="굴림" pitchFamily="50" charset="-127"/>
              <a:cs typeface="MS Shell Dlg 2" pitchFamily="34" charset="0"/>
            </a:endParaRPr>
          </a:p>
        </p:txBody>
      </p:sp>
      <p:sp>
        <p:nvSpPr>
          <p:cNvPr id="22" name="TextBox 21"/>
          <p:cNvSpPr txBox="1"/>
          <p:nvPr/>
        </p:nvSpPr>
        <p:spPr bwMode="auto">
          <a:xfrm>
            <a:off x="3888829" y="5495784"/>
            <a:ext cx="100860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SSH 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터널 생성</a:t>
            </a:r>
            <a:endParaRPr lang="en-US" altLang="ko-KR" sz="100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="" xmlns:a16="http://schemas.microsoft.com/office/drawing/2014/main" id="{AE7B012F-B494-45AB-B536-4F26C1B26FA5}"/>
              </a:ext>
            </a:extLst>
          </p:cNvPr>
          <p:cNvCxnSpPr/>
          <p:nvPr/>
        </p:nvCxnSpPr>
        <p:spPr>
          <a:xfrm flipV="1">
            <a:off x="2016621" y="2424811"/>
            <a:ext cx="0" cy="1661193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64" name="제목 1">
            <a:extLst>
              <a:ext uri="{FF2B5EF4-FFF2-40B4-BE49-F238E27FC236}">
                <a16:creationId xmlns="" xmlns:a16="http://schemas.microsoft.com/office/drawing/2014/main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900497" y="3197915"/>
            <a:ext cx="110767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10) [RES]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장비연결</a:t>
            </a:r>
            <a:endParaRPr kumimoji="0" lang="en-US" altLang="ko-KR" sz="1000" dirty="0" smtClean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  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결과 응답</a:t>
            </a:r>
            <a:endParaRPr kumimoji="0" lang="en-US" altLang="ko-KR" sz="1000" dirty="0" smtClean="0">
              <a:solidFill>
                <a:srgbClr val="0000FF"/>
              </a:solidFill>
              <a:latin typeface="MS Shell Dlg 2" pitchFamily="34" charset="0"/>
              <a:ea typeface="굴림" pitchFamily="50" charset="-127"/>
              <a:cs typeface="MS Shell Dlg 2" pitchFamily="34" charset="0"/>
            </a:endParaRP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endParaRPr kumimoji="0" lang="en-US" altLang="ko-KR" sz="1000" dirty="0" smtClean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cxnSp>
        <p:nvCxnSpPr>
          <p:cNvPr id="59" name="직선 연결선 58"/>
          <p:cNvCxnSpPr>
            <a:stCxn id="45" idx="2"/>
            <a:endCxn id="15" idx="0"/>
          </p:cNvCxnSpPr>
          <p:nvPr/>
        </p:nvCxnSpPr>
        <p:spPr>
          <a:xfrm>
            <a:off x="4365320" y="5467545"/>
            <a:ext cx="2218" cy="39483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82" name="모서리가 둥근 사각형 설명선 81"/>
          <p:cNvSpPr/>
          <p:nvPr/>
        </p:nvSpPr>
        <p:spPr bwMode="auto">
          <a:xfrm>
            <a:off x="4860937" y="6121052"/>
            <a:ext cx="3312000" cy="250697"/>
          </a:xfrm>
          <a:prstGeom prst="wedgeRoundRectCallout">
            <a:avLst>
              <a:gd name="adj1" fmla="val -55093"/>
              <a:gd name="adj2" fmla="val -46107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hangingPunct="0">
              <a:spcBef>
                <a:spcPct val="20000"/>
              </a:spcBef>
              <a:buSzPct val="70000"/>
            </a:pPr>
            <a:r>
              <a:rPr lang="en-US" altLang="ko-KR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- </a:t>
            </a:r>
            <a:r>
              <a:rPr lang="en-US" altLang="ko-KR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SSH(Secure Shell) 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프로토콜을 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이용한 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암호화 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통신채널</a:t>
            </a:r>
            <a:endParaRPr lang="en-US" altLang="ko-KR" sz="1000" dirty="0" smtClean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</p:txBody>
      </p:sp>
      <p:cxnSp>
        <p:nvCxnSpPr>
          <p:cNvPr id="84" name="직선 화살표 연결선 83">
            <a:extLst>
              <a:ext uri="{FF2B5EF4-FFF2-40B4-BE49-F238E27FC236}">
                <a16:creationId xmlns="" xmlns:a16="http://schemas.microsoft.com/office/drawing/2014/main" id="{AE7B012F-B494-45AB-B536-4F26C1B26FA5}"/>
              </a:ext>
            </a:extLst>
          </p:cNvPr>
          <p:cNvCxnSpPr/>
          <p:nvPr/>
        </p:nvCxnSpPr>
        <p:spPr>
          <a:xfrm>
            <a:off x="2864475" y="4216328"/>
            <a:ext cx="2484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86" name="제목 1">
            <a:extLst>
              <a:ext uri="{FF2B5EF4-FFF2-40B4-BE49-F238E27FC236}">
                <a16:creationId xmlns="" xmlns:a16="http://schemas.microsoft.com/office/drawing/2014/main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2885426" y="3986944"/>
            <a:ext cx="1867499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 [REQ]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터널</a:t>
            </a:r>
            <a:r>
              <a:rPr kumimoji="0" lang="en-US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생성 요청 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장비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IP)</a:t>
            </a:r>
            <a:endParaRPr kumimoji="0" lang="en-US" sz="1000" dirty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87" name="제목 1">
            <a:extLst>
              <a:ext uri="{FF2B5EF4-FFF2-40B4-BE49-F238E27FC236}">
                <a16:creationId xmlns="" xmlns:a16="http://schemas.microsoft.com/office/drawing/2014/main" id="{19CBB4BA-7F68-4659-B414-EB53558D9758}"/>
              </a:ext>
            </a:extLst>
          </p:cNvPr>
          <p:cNvSpPr txBox="1">
            <a:spLocks/>
          </p:cNvSpPr>
          <p:nvPr/>
        </p:nvSpPr>
        <p:spPr bwMode="auto">
          <a:xfrm>
            <a:off x="3683442" y="4343656"/>
            <a:ext cx="1681551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8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 [RES]4)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의 응답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kumimoji="0" lang="ko-KR" altLang="en-US" sz="1000" dirty="0" smtClean="0">
                <a:solidFill>
                  <a:srgbClr val="0000FF"/>
                </a:solidFill>
                <a:latin typeface="MS Shell Dlg 2" pitchFamily="34" charset="0"/>
                <a:ea typeface="굴림" pitchFamily="50" charset="-127"/>
                <a:cs typeface="MS Shell Dlg 2" pitchFamily="34" charset="0"/>
              </a:rPr>
              <a:t>터널 포트</a:t>
            </a:r>
            <a:r>
              <a:rPr kumimoji="0" lang="en-US" altLang="ko-KR" sz="1000" dirty="0" smtClean="0">
                <a:solidFill>
                  <a:srgbClr val="0000FF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endParaRPr kumimoji="0" lang="en-US" sz="1000" dirty="0">
              <a:solidFill>
                <a:srgbClr val="0000FF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cxnSp>
        <p:nvCxnSpPr>
          <p:cNvPr id="88" name="직선 화살표 연결선 87">
            <a:extLst>
              <a:ext uri="{FF2B5EF4-FFF2-40B4-BE49-F238E27FC236}">
                <a16:creationId xmlns="" xmlns:a16="http://schemas.microsoft.com/office/drawing/2014/main" id="{AE7B012F-B494-45AB-B536-4F26C1B26FA5}"/>
              </a:ext>
            </a:extLst>
          </p:cNvPr>
          <p:cNvCxnSpPr/>
          <p:nvPr/>
        </p:nvCxnSpPr>
        <p:spPr>
          <a:xfrm flipH="1">
            <a:off x="2859450" y="4311757"/>
            <a:ext cx="2484000" cy="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triangle"/>
          </a:ln>
          <a:effectLst/>
        </p:spPr>
      </p:cxnSp>
      <p:sp>
        <p:nvSpPr>
          <p:cNvPr id="9" name="TextBox 8"/>
          <p:cNvSpPr txBox="1"/>
          <p:nvPr/>
        </p:nvSpPr>
        <p:spPr bwMode="auto">
          <a:xfrm>
            <a:off x="4788929" y="3996852"/>
            <a:ext cx="59343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kumimoji="1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40009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cs typeface="MS Shell Dlg 2" pitchFamily="34" charset="0"/>
            </a:endParaRPr>
          </a:p>
        </p:txBody>
      </p:sp>
      <p:sp>
        <p:nvSpPr>
          <p:cNvPr id="53" name="TextBox 52"/>
          <p:cNvSpPr txBox="1"/>
          <p:nvPr/>
        </p:nvSpPr>
        <p:spPr bwMode="auto">
          <a:xfrm>
            <a:off x="2100983" y="3880153"/>
            <a:ext cx="593432" cy="233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ts val="11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kumimoji="1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40030</a:t>
            </a:r>
          </a:p>
        </p:txBody>
      </p:sp>
      <p:sp>
        <p:nvSpPr>
          <p:cNvPr id="58" name="모서리가 둥근 사각형 설명선 57"/>
          <p:cNvSpPr/>
          <p:nvPr/>
        </p:nvSpPr>
        <p:spPr bwMode="auto">
          <a:xfrm>
            <a:off x="2412665" y="2952776"/>
            <a:ext cx="3600000" cy="684000"/>
          </a:xfrm>
          <a:prstGeom prst="wedgeRoundRectCallout">
            <a:avLst>
              <a:gd name="adj1" fmla="val -42736"/>
              <a:gd name="adj2" fmla="val 100223"/>
              <a:gd name="adj3" fmla="val 16667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85725" indent="-85725" eaLnBrk="0" hangingPunct="0">
              <a:spcBef>
                <a:spcPct val="20000"/>
              </a:spcBef>
              <a:buSzPct val="70000"/>
              <a:buFontTx/>
              <a:buChar char="-"/>
            </a:pPr>
            <a:r>
              <a:rPr lang="en-US" altLang="ko-KR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LTE 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접속용 데몬 </a:t>
            </a:r>
            <a:r>
              <a:rPr lang="en-US" altLang="ko-KR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(SSH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서버와 동일</a:t>
            </a:r>
            <a:r>
              <a:rPr lang="en-US" altLang="ko-KR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IP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서버에 위치한</a:t>
            </a:r>
            <a:r>
              <a:rPr lang="en-US" altLang="ko-KR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)</a:t>
            </a:r>
          </a:p>
          <a:p>
            <a:pPr marL="85725" indent="-85725" eaLnBrk="0" hangingPunct="0">
              <a:spcBef>
                <a:spcPct val="20000"/>
              </a:spcBef>
              <a:buSzPct val="70000"/>
              <a:buFontTx/>
              <a:buChar char="-"/>
            </a:pP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현재 </a:t>
            </a:r>
            <a:r>
              <a:rPr lang="en-US" altLang="ko-KR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1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개 </a:t>
            </a:r>
            <a:r>
              <a:rPr lang="ko-KR" altLang="en-US" sz="1000" dirty="0" err="1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데몬이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요청수신포트 </a:t>
            </a:r>
            <a:r>
              <a:rPr lang="en-US" altLang="ko-KR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40030</a:t>
            </a:r>
            <a:r>
              <a:rPr lang="ko-KR" altLang="en-US" sz="100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로 </a:t>
            </a:r>
            <a:r>
              <a:rPr lang="ko-KR" altLang="en-US" sz="1000" dirty="0" err="1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실행중</a:t>
            </a:r>
            <a:endParaRPr lang="en-US" altLang="ko-KR" sz="1000" dirty="0" smtClean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  <a:p>
            <a:pPr marL="85725" indent="-85725" eaLnBrk="0" hangingPunct="0">
              <a:spcBef>
                <a:spcPct val="20000"/>
              </a:spcBef>
              <a:buSzPct val="70000"/>
              <a:buFontTx/>
              <a:buChar char="-"/>
            </a:pPr>
            <a:r>
              <a:rPr lang="ko-KR" altLang="en-US" sz="1000" dirty="0" err="1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필요시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dirty="0" err="1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늘릴수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있으며 </a:t>
            </a:r>
            <a:r>
              <a:rPr lang="ko-KR" altLang="en-US" sz="1000" dirty="0" err="1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데몬사용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포트 범위는 </a:t>
            </a:r>
            <a:r>
              <a:rPr lang="en-US" altLang="ko-KR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40030~40099</a:t>
            </a:r>
            <a:r>
              <a:rPr lang="ko-KR" altLang="en-US" sz="1000" dirty="0" smtClean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</a:t>
            </a:r>
            <a:endParaRPr lang="en-US" altLang="ko-KR" sz="1000" dirty="0" smtClean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4915577" y="5046739"/>
            <a:ext cx="59343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kumimoji="1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40002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cs typeface="MS Shell Dlg 2" pitchFamily="34" charset="0"/>
            </a:endParaRPr>
          </a:p>
        </p:txBody>
      </p:sp>
      <p:sp>
        <p:nvSpPr>
          <p:cNvPr id="54" name="모서리가 둥근 직사각형 53"/>
          <p:cNvSpPr/>
          <p:nvPr/>
        </p:nvSpPr>
        <p:spPr bwMode="auto">
          <a:xfrm>
            <a:off x="1393258" y="4072103"/>
            <a:ext cx="1460586" cy="352248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5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TACT</a:t>
            </a:r>
            <a:r>
              <a:rPr lang="ko-KR" altLang="en-US" sz="1050" b="1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</a:t>
            </a:r>
            <a:r>
              <a:rPr lang="en-US" altLang="ko-KR" sz="1050" b="1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</a:t>
            </a:r>
            <a:r>
              <a:rPr kumimoji="1" lang="en-US" altLang="ko-KR" sz="105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#n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65" name="TextBox 64"/>
          <p:cNvSpPr txBox="1"/>
          <p:nvPr/>
        </p:nvSpPr>
        <p:spPr bwMode="auto">
          <a:xfrm>
            <a:off x="4472640" y="1704482"/>
            <a:ext cx="59343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kumimoji="1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43210</a:t>
            </a:r>
            <a:endParaRPr kumimoji="1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cs typeface="MS Shell Dlg 2" pitchFamily="34" charset="0"/>
            </a:endParaRPr>
          </a:p>
        </p:txBody>
      </p:sp>
      <p:sp>
        <p:nvSpPr>
          <p:cNvPr id="67" name="TextBox 66"/>
          <p:cNvSpPr txBox="1"/>
          <p:nvPr/>
        </p:nvSpPr>
        <p:spPr bwMode="auto">
          <a:xfrm>
            <a:off x="2808709" y="4303479"/>
            <a:ext cx="593432" cy="2333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ts val="11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kumimoji="1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40030</a:t>
            </a:r>
          </a:p>
        </p:txBody>
      </p:sp>
    </p:spTree>
    <p:extLst>
      <p:ext uri="{BB962C8B-B14F-4D97-AF65-F5344CB8AC3E}">
        <p14:creationId xmlns:p14="http://schemas.microsoft.com/office/powerpoint/2010/main" val="1178449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504453" y="1008484"/>
            <a:ext cx="3888432" cy="3096344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00" b="1" dirty="0" err="1" smtClean="0">
                <a:solidFill>
                  <a:schemeClr val="tx1"/>
                </a:solidFill>
                <a:latin typeface="+mj-ea"/>
                <a:ea typeface="+mj-ea"/>
              </a:rPr>
              <a:t>TACTDaemon</a:t>
            </a:r>
            <a:endParaRPr kumimoji="0"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0" name="모서리가 둥근 직사각형 39"/>
          <p:cNvSpPr/>
          <p:nvPr/>
        </p:nvSpPr>
        <p:spPr bwMode="auto">
          <a:xfrm>
            <a:off x="1683060" y="3276784"/>
            <a:ext cx="2016000" cy="432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RACTDaemonProcess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[TACT] </a:t>
            </a:r>
            <a:r>
              <a:rPr lang="ko-KR" altLang="en-US" dirty="0" smtClean="0"/>
              <a:t>원격통신채널 연관도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smtClean="0"/>
              <a:t>2019/07/01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 bwMode="auto">
          <a:xfrm>
            <a:off x="1632765" y="3223826"/>
            <a:ext cx="2016000" cy="432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RACTDaemonProcess</a:t>
            </a:r>
            <a:endParaRPr lang="en-US" altLang="ko-KR" sz="1050" b="1" dirty="0" smtClean="0">
              <a:solidFill>
                <a:schemeClr val="tx1"/>
              </a:solidFill>
              <a:latin typeface="+mj-ea"/>
              <a:ea typeface="+mj-ea"/>
              <a:cs typeface="Arials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(</a:t>
            </a:r>
            <a:r>
              <a:rPr kumimoji="1" lang="en-US" altLang="ko-KR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KAMServer</a:t>
            </a: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 </a:t>
            </a:r>
            <a:r>
              <a:rPr kumimoji="1" lang="ko-KR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미접속</a:t>
            </a: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)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5135699" y="4832313"/>
            <a:ext cx="4464496" cy="1864803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00" b="1" dirty="0" err="1" smtClean="0">
                <a:solidFill>
                  <a:schemeClr val="tx1"/>
                </a:solidFill>
                <a:latin typeface="+mj-ea"/>
                <a:ea typeface="+mj-ea"/>
              </a:rPr>
              <a:t>TACTServer</a:t>
            </a:r>
            <a:endParaRPr kumimoji="0"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4716921" y="1008482"/>
            <a:ext cx="5076563" cy="3096345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00" b="1" dirty="0" err="1" smtClean="0">
                <a:solidFill>
                  <a:schemeClr val="tx1"/>
                </a:solidFill>
                <a:latin typeface="+mj-ea"/>
                <a:ea typeface="+mj-ea"/>
              </a:rPr>
              <a:t>TACTKeepAliverServer</a:t>
            </a:r>
            <a:endParaRPr kumimoji="0"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1044513" y="5276616"/>
            <a:ext cx="2844000" cy="1145582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00" b="1" dirty="0" err="1" smtClean="0">
                <a:solidFill>
                  <a:schemeClr val="tx1"/>
                </a:solidFill>
                <a:latin typeface="+mj-ea"/>
                <a:ea typeface="+mj-ea"/>
              </a:rPr>
              <a:t>TACTClient</a:t>
            </a:r>
            <a:endParaRPr kumimoji="0"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0" name="모서리가 둥근 직사각형 9"/>
          <p:cNvSpPr/>
          <p:nvPr/>
        </p:nvSpPr>
        <p:spPr bwMode="auto">
          <a:xfrm>
            <a:off x="1452936" y="1332520"/>
            <a:ext cx="2376000" cy="468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RACTDaemonLauncherManager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12" name="모서리가 둥근 직사각형 11"/>
          <p:cNvSpPr/>
          <p:nvPr/>
        </p:nvSpPr>
        <p:spPr bwMode="auto">
          <a:xfrm>
            <a:off x="1442620" y="5720401"/>
            <a:ext cx="1784867" cy="56729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RACTClient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13" name="모서리가 둥근 직사각형 12"/>
          <p:cNvSpPr/>
          <p:nvPr/>
        </p:nvSpPr>
        <p:spPr bwMode="auto">
          <a:xfrm>
            <a:off x="5542209" y="5768473"/>
            <a:ext cx="1584000" cy="468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RACTServer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14" name="모서리가 둥근 직사각형 13"/>
          <p:cNvSpPr/>
          <p:nvPr/>
        </p:nvSpPr>
        <p:spPr bwMode="auto">
          <a:xfrm>
            <a:off x="6971903" y="5156405"/>
            <a:ext cx="2052000" cy="468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RACTServerServiceManager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15" name="모서리가 둥근 직사각형 14"/>
          <p:cNvSpPr/>
          <p:nvPr/>
        </p:nvSpPr>
        <p:spPr bwMode="auto">
          <a:xfrm>
            <a:off x="7499305" y="1332520"/>
            <a:ext cx="2159689" cy="468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TACTKeepAliverServer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cxnSp>
        <p:nvCxnSpPr>
          <p:cNvPr id="18" name="꺾인 연결선 17"/>
          <p:cNvCxnSpPr>
            <a:stCxn id="5" idx="2"/>
            <a:endCxn id="6" idx="0"/>
          </p:cNvCxnSpPr>
          <p:nvPr/>
        </p:nvCxnSpPr>
        <p:spPr>
          <a:xfrm rot="5400000">
            <a:off x="2283691" y="2860728"/>
            <a:ext cx="720172" cy="602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17" name="꺾인 연결선 16"/>
          <p:cNvCxnSpPr>
            <a:stCxn id="10" idx="2"/>
            <a:endCxn id="5" idx="0"/>
          </p:cNvCxnSpPr>
          <p:nvPr/>
        </p:nvCxnSpPr>
        <p:spPr>
          <a:xfrm rot="16200000" flipH="1">
            <a:off x="2490295" y="1951160"/>
            <a:ext cx="307134" cy="5853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21" name="모서리가 둥근 직사각형 20"/>
          <p:cNvSpPr/>
          <p:nvPr/>
        </p:nvSpPr>
        <p:spPr bwMode="auto">
          <a:xfrm>
            <a:off x="1596765" y="2709030"/>
            <a:ext cx="2088000" cy="38741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RACTDaemonExe.exe</a:t>
            </a:r>
            <a:endParaRPr lang="en-US" altLang="ko-KR" b="1" dirty="0">
              <a:solidFill>
                <a:schemeClr val="tx1"/>
              </a:solidFill>
              <a:latin typeface="+mj-ea"/>
              <a:ea typeface="+mj-ea"/>
              <a:cs typeface="Arials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(</a:t>
            </a:r>
            <a:r>
              <a:rPr kumimoji="1" lang="en-US" altLang="ko-KR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DaemonProcess</a:t>
            </a:r>
            <a:r>
              <a:rPr kumimoji="1" lang="ko-KR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실행을 위해서</a:t>
            </a:r>
            <a:r>
              <a:rPr kumimoji="1" lang="ko-KR" alt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 </a:t>
            </a:r>
            <a:r>
              <a:rPr lang="ko-KR" altLang="en-US" dirty="0">
                <a:solidFill>
                  <a:schemeClr val="tx1"/>
                </a:solidFill>
                <a:cs typeface="MS Shell Dlg 2" pitchFamily="34" charset="0"/>
              </a:rPr>
              <a:t>사</a:t>
            </a:r>
            <a:r>
              <a:rPr kumimoji="1" lang="ko-KR" alt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용</a:t>
            </a:r>
            <a:r>
              <a:rPr kumimoji="1" lang="en-US" altLang="ko-KR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)</a:t>
            </a:r>
            <a:endParaRPr kumimoji="1" lang="en-US" altLang="ko-KR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MS Shell Dlg 2" pitchFamily="34" charset="0"/>
            </a:endParaRPr>
          </a:p>
        </p:txBody>
      </p:sp>
      <p:cxnSp>
        <p:nvCxnSpPr>
          <p:cNvPr id="23" name="꺾인 연결선 22"/>
          <p:cNvCxnSpPr>
            <a:stCxn id="6" idx="2"/>
            <a:endCxn id="13" idx="0"/>
          </p:cNvCxnSpPr>
          <p:nvPr/>
        </p:nvCxnSpPr>
        <p:spPr>
          <a:xfrm rot="16200000" flipH="1">
            <a:off x="3431164" y="2865427"/>
            <a:ext cx="2112647" cy="369344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26" name="꺾인 연결선 25"/>
          <p:cNvCxnSpPr>
            <a:stCxn id="14" idx="2"/>
            <a:endCxn id="13" idx="3"/>
          </p:cNvCxnSpPr>
          <p:nvPr/>
        </p:nvCxnSpPr>
        <p:spPr>
          <a:xfrm rot="5400000">
            <a:off x="7373022" y="5377592"/>
            <a:ext cx="378068" cy="871694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30" name="꺾인 연결선 29"/>
          <p:cNvCxnSpPr>
            <a:stCxn id="12" idx="3"/>
            <a:endCxn id="13" idx="1"/>
          </p:cNvCxnSpPr>
          <p:nvPr/>
        </p:nvCxnSpPr>
        <p:spPr>
          <a:xfrm flipV="1">
            <a:off x="3227487" y="6002473"/>
            <a:ext cx="2314722" cy="157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37" name="TextBox 36"/>
          <p:cNvSpPr txBox="1"/>
          <p:nvPr/>
        </p:nvSpPr>
        <p:spPr bwMode="auto">
          <a:xfrm>
            <a:off x="5335219" y="5316661"/>
            <a:ext cx="998991" cy="397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algn="r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43211, </a:t>
            </a:r>
            <a:endParaRPr lang="en-US" altLang="ko-KR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algn="r" eaLnBrk="0" hangingPunct="0">
              <a:spcBef>
                <a:spcPct val="20000"/>
              </a:spcBef>
              <a:buSzPct val="70000"/>
            </a:pP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RemoteDaemon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38" name="TextBox 37"/>
          <p:cNvSpPr txBox="1"/>
          <p:nvPr/>
        </p:nvSpPr>
        <p:spPr bwMode="auto">
          <a:xfrm>
            <a:off x="8039030" y="1872580"/>
            <a:ext cx="151195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40009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, 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RemoteKAMServer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43" name="TextBox 42"/>
          <p:cNvSpPr txBox="1"/>
          <p:nvPr/>
        </p:nvSpPr>
        <p:spPr bwMode="auto">
          <a:xfrm>
            <a:off x="1067654" y="1870484"/>
            <a:ext cx="166904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43214, 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RactLauncherChannel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300762" y="6022813"/>
            <a:ext cx="1244251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43210, 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RemoteClient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7126209" y="6005641"/>
            <a:ext cx="176522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23451, 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RemoteServiceManager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31" name="모서리가 둥근 직사각형 30"/>
          <p:cNvSpPr/>
          <p:nvPr/>
        </p:nvSpPr>
        <p:spPr bwMode="auto">
          <a:xfrm>
            <a:off x="5184646" y="3312788"/>
            <a:ext cx="2016000" cy="432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RACTDaemonProcess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32" name="모서리가 둥근 직사각형 31"/>
          <p:cNvSpPr/>
          <p:nvPr/>
        </p:nvSpPr>
        <p:spPr bwMode="auto">
          <a:xfrm>
            <a:off x="5123455" y="3268202"/>
            <a:ext cx="2016000" cy="432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RACTDaemonProcess</a:t>
            </a:r>
            <a:endParaRPr lang="en-US" altLang="ko-KR" sz="1050" b="1" dirty="0" smtClean="0">
              <a:solidFill>
                <a:schemeClr val="tx1"/>
              </a:solidFill>
              <a:latin typeface="+mj-ea"/>
              <a:ea typeface="+mj-ea"/>
              <a:cs typeface="Arials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(</a:t>
            </a:r>
            <a:r>
              <a:rPr kumimoji="1" lang="en-US" altLang="ko-KR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KAMServer</a:t>
            </a: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 </a:t>
            </a:r>
            <a:r>
              <a:rPr kumimoji="1" lang="ko-KR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접속</a:t>
            </a: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,</a:t>
            </a:r>
            <a:r>
              <a:rPr lang="en-US" altLang="ko-KR" dirty="0" err="1" smtClean="0">
                <a:solidFill>
                  <a:schemeClr val="tx1"/>
                </a:solidFill>
                <a:cs typeface="MS Shell Dlg 2" pitchFamily="34" charset="0"/>
              </a:rPr>
              <a:t>LTE</a:t>
            </a:r>
            <a:r>
              <a:rPr lang="ko-KR" altLang="en-US" dirty="0" smtClean="0">
                <a:solidFill>
                  <a:schemeClr val="tx1"/>
                </a:solidFill>
                <a:cs typeface="MS Shell Dlg 2" pitchFamily="34" charset="0"/>
              </a:rPr>
              <a:t>접속 지원</a:t>
            </a: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)</a:t>
            </a:r>
          </a:p>
        </p:txBody>
      </p:sp>
      <p:cxnSp>
        <p:nvCxnSpPr>
          <p:cNvPr id="35" name="꺾인 연결선 34"/>
          <p:cNvCxnSpPr>
            <a:stCxn id="32" idx="3"/>
            <a:endCxn id="15" idx="2"/>
          </p:cNvCxnSpPr>
          <p:nvPr/>
        </p:nvCxnSpPr>
        <p:spPr>
          <a:xfrm flipV="1">
            <a:off x="7139455" y="1800520"/>
            <a:ext cx="936000" cy="1683682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41" name="꺾인 연결선 40"/>
          <p:cNvCxnSpPr>
            <a:stCxn id="32" idx="2"/>
            <a:endCxn id="13" idx="0"/>
          </p:cNvCxnSpPr>
          <p:nvPr/>
        </p:nvCxnSpPr>
        <p:spPr>
          <a:xfrm rot="16200000" flipH="1">
            <a:off x="5198697" y="4632960"/>
            <a:ext cx="2068271" cy="20275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5" name="모서리가 둥근 직사각형 4"/>
          <p:cNvSpPr/>
          <p:nvPr/>
        </p:nvSpPr>
        <p:spPr bwMode="auto">
          <a:xfrm>
            <a:off x="1764789" y="2107654"/>
            <a:ext cx="1764000" cy="396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RACTDaemonLauncher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64" name="모서리가 둥근 직사각형 63"/>
          <p:cNvSpPr/>
          <p:nvPr/>
        </p:nvSpPr>
        <p:spPr bwMode="auto">
          <a:xfrm>
            <a:off x="4943626" y="1332520"/>
            <a:ext cx="2376000" cy="46800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RACTDaemonLauncherManager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cxnSp>
        <p:nvCxnSpPr>
          <p:cNvPr id="65" name="꺾인 연결선 64"/>
          <p:cNvCxnSpPr>
            <a:stCxn id="64" idx="2"/>
            <a:endCxn id="68" idx="0"/>
          </p:cNvCxnSpPr>
          <p:nvPr/>
        </p:nvCxnSpPr>
        <p:spPr>
          <a:xfrm rot="5400000">
            <a:off x="5977520" y="1953548"/>
            <a:ext cx="307134" cy="107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67" name="TextBox 66"/>
          <p:cNvSpPr txBox="1"/>
          <p:nvPr/>
        </p:nvSpPr>
        <p:spPr bwMode="auto">
          <a:xfrm>
            <a:off x="5659212" y="1872580"/>
            <a:ext cx="1669047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40021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, 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RactLauncherChannel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68" name="모서리가 둥근 직사각형 67"/>
          <p:cNvSpPr/>
          <p:nvPr/>
        </p:nvSpPr>
        <p:spPr bwMode="auto">
          <a:xfrm>
            <a:off x="5248547" y="2107654"/>
            <a:ext cx="1764000" cy="42622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RACTDaemonLauncher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sp>
        <p:nvSpPr>
          <p:cNvPr id="69" name="TextBox 68"/>
          <p:cNvSpPr txBox="1"/>
          <p:nvPr/>
        </p:nvSpPr>
        <p:spPr bwMode="auto">
          <a:xfrm>
            <a:off x="7165193" y="3456756"/>
            <a:ext cx="2135521" cy="563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40030, </a:t>
            </a: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RACTDaemonChannel</a:t>
            </a:r>
            <a:endParaRPr lang="en-US" altLang="ko-KR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(&lt;</a:t>
            </a: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DaemonStartCount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ko-KR" altLang="en-US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갯수만큼</a:t>
            </a:r>
            <a:r>
              <a:rPr lang="ko-KR" altLang="en-US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실행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ko-KR" altLang="en-US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데몬할당가능포트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: 40030~40099</a:t>
            </a:r>
          </a:p>
        </p:txBody>
      </p:sp>
      <p:cxnSp>
        <p:nvCxnSpPr>
          <p:cNvPr id="70" name="꺾인 연결선 69"/>
          <p:cNvCxnSpPr>
            <a:stCxn id="68" idx="2"/>
            <a:endCxn id="32" idx="0"/>
          </p:cNvCxnSpPr>
          <p:nvPr/>
        </p:nvCxnSpPr>
        <p:spPr>
          <a:xfrm rot="16200000" flipH="1">
            <a:off x="5763837" y="2900584"/>
            <a:ext cx="734328" cy="908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73" name="모서리가 둥근 직사각형 72"/>
          <p:cNvSpPr/>
          <p:nvPr/>
        </p:nvSpPr>
        <p:spPr bwMode="auto">
          <a:xfrm>
            <a:off x="5087455" y="2709030"/>
            <a:ext cx="2088000" cy="387419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RACTDaemonExe.exe</a:t>
            </a:r>
            <a:endParaRPr lang="en-US" altLang="ko-KR" b="1" dirty="0">
              <a:solidFill>
                <a:schemeClr val="tx1"/>
              </a:solidFill>
              <a:latin typeface="+mj-ea"/>
              <a:ea typeface="+mj-ea"/>
              <a:cs typeface="Arials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(</a:t>
            </a:r>
            <a:r>
              <a:rPr kumimoji="1" lang="en-US" altLang="ko-KR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DaemonProcess</a:t>
            </a:r>
            <a:r>
              <a:rPr kumimoji="1" lang="ko-KR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실행을 위해서</a:t>
            </a:r>
            <a:r>
              <a:rPr kumimoji="1" lang="ko-KR" alt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 </a:t>
            </a:r>
            <a:r>
              <a:rPr lang="ko-KR" altLang="en-US" dirty="0">
                <a:solidFill>
                  <a:schemeClr val="tx1"/>
                </a:solidFill>
                <a:cs typeface="MS Shell Dlg 2" pitchFamily="34" charset="0"/>
              </a:rPr>
              <a:t>사</a:t>
            </a:r>
            <a:r>
              <a:rPr kumimoji="1" lang="ko-KR" altLang="en-US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용</a:t>
            </a:r>
            <a:r>
              <a:rPr kumimoji="1" lang="en-US" altLang="ko-KR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cs typeface="MS Shell Dlg 2" pitchFamily="34" charset="0"/>
              </a:rPr>
              <a:t>)</a:t>
            </a:r>
            <a:endParaRPr kumimoji="1" lang="en-US" altLang="ko-KR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MS Shell Dlg 2" pitchFamily="34" charset="0"/>
            </a:endParaRPr>
          </a:p>
        </p:txBody>
      </p:sp>
      <p:cxnSp>
        <p:nvCxnSpPr>
          <p:cNvPr id="96" name="구부러진 연결선 95"/>
          <p:cNvCxnSpPr>
            <a:stCxn id="12" idx="0"/>
            <a:endCxn id="32" idx="1"/>
          </p:cNvCxnSpPr>
          <p:nvPr/>
        </p:nvCxnSpPr>
        <p:spPr>
          <a:xfrm rot="5400000" flipH="1" flipV="1">
            <a:off x="2611155" y="3208102"/>
            <a:ext cx="2236199" cy="2788401"/>
          </a:xfrm>
          <a:prstGeom prst="curved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cxnSp>
        <p:nvCxnSpPr>
          <p:cNvPr id="100" name="구부러진 연결선 99"/>
          <p:cNvCxnSpPr>
            <a:stCxn id="12" idx="0"/>
            <a:endCxn id="6" idx="1"/>
          </p:cNvCxnSpPr>
          <p:nvPr/>
        </p:nvCxnSpPr>
        <p:spPr>
          <a:xfrm rot="16200000" flipV="1">
            <a:off x="843623" y="4228969"/>
            <a:ext cx="2280575" cy="702289"/>
          </a:xfrm>
          <a:prstGeom prst="curvedConnector4">
            <a:avLst>
              <a:gd name="adj1" fmla="val 45264"/>
              <a:gd name="adj2" fmla="val 159626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107" name="TextBox 106"/>
          <p:cNvSpPr txBox="1"/>
          <p:nvPr/>
        </p:nvSpPr>
        <p:spPr bwMode="auto">
          <a:xfrm>
            <a:off x="396441" y="3713254"/>
            <a:ext cx="2135521" cy="895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43216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, </a:t>
            </a: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RACTDaemonChannel</a:t>
            </a:r>
            <a:endParaRPr lang="en-US" altLang="ko-KR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kumimoji="1" lang="en-US" altLang="ko-KR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...</a:t>
            </a: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43219, </a:t>
            </a: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RACTDaemonChannel</a:t>
            </a:r>
            <a:endParaRPr lang="en-US" altLang="ko-KR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(&lt;</a:t>
            </a:r>
            <a:r>
              <a:rPr lang="en-US" altLang="ko-KR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DaemonStartCount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ko-KR" altLang="en-US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갯수만큼</a:t>
            </a:r>
            <a:r>
              <a:rPr lang="ko-KR" altLang="en-US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실행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</a:p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KAMServerConnectEnable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= </a:t>
            </a: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false</a:t>
            </a:r>
            <a:endParaRPr lang="ko-KR" altLang="en-US" kern="0" dirty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</p:txBody>
      </p:sp>
      <p:sp>
        <p:nvSpPr>
          <p:cNvPr id="108" name="TextBox 107"/>
          <p:cNvSpPr txBox="1"/>
          <p:nvPr/>
        </p:nvSpPr>
        <p:spPr bwMode="auto">
          <a:xfrm>
            <a:off x="1751323" y="5156350"/>
            <a:ext cx="1300356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marR="0" indent="-179388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70000"/>
              <a:buFont typeface="Wingdings" pitchFamily="2" charset="2"/>
              <a:buNone/>
              <a:tabLst/>
            </a:pPr>
            <a:r>
              <a:rPr lang="ko-KR" altLang="en-US" kern="0" dirty="0" err="1" smtClean="0">
                <a:solidFill>
                  <a:schemeClr val="tx1"/>
                </a:solidFill>
              </a:rPr>
              <a:t>데몬을</a:t>
            </a:r>
            <a:r>
              <a:rPr lang="ko-KR" altLang="en-US" kern="0" dirty="0" smtClean="0">
                <a:solidFill>
                  <a:schemeClr val="tx1"/>
                </a:solidFill>
              </a:rPr>
              <a:t> 통한 장비접속</a:t>
            </a:r>
            <a:endParaRPr kumimoji="1" lang="ko-KR" altLang="en-US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42" name="직사각형 41"/>
          <p:cNvSpPr/>
          <p:nvPr/>
        </p:nvSpPr>
        <p:spPr bwMode="auto">
          <a:xfrm>
            <a:off x="9879596" y="2880640"/>
            <a:ext cx="1350592" cy="975281"/>
          </a:xfrm>
          <a:prstGeom prst="rect">
            <a:avLst/>
          </a:prstGeom>
          <a:solidFill>
            <a:schemeClr val="bg1"/>
          </a:solidFill>
          <a:ln w="38100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400" b="1" dirty="0" smtClean="0">
                <a:solidFill>
                  <a:schemeClr val="tx1"/>
                </a:solidFill>
                <a:latin typeface="+mj-ea"/>
                <a:ea typeface="+mj-ea"/>
              </a:rPr>
              <a:t>c-RPCS</a:t>
            </a:r>
            <a:endParaRPr kumimoji="0" lang="en-US" altLang="ko-KR" sz="14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xmlns="" id="{42133CF8-88E6-4D94-A096-77BA0A41A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4488" y="3119641"/>
            <a:ext cx="376924" cy="377849"/>
          </a:xfrm>
          <a:prstGeom prst="rect">
            <a:avLst/>
          </a:prstGeom>
        </p:spPr>
      </p:pic>
      <p:sp>
        <p:nvSpPr>
          <p:cNvPr id="48" name="직사각형 47">
            <a:extLst>
              <a:ext uri="{FF2B5EF4-FFF2-40B4-BE49-F238E27FC236}">
                <a16:creationId xmlns:a16="http://schemas.microsoft.com/office/drawing/2014/main" xmlns="" id="{50DAB6FA-F28C-4ED2-B49D-9EA48F89DA93}"/>
              </a:ext>
            </a:extLst>
          </p:cNvPr>
          <p:cNvSpPr/>
          <p:nvPr/>
        </p:nvSpPr>
        <p:spPr>
          <a:xfrm>
            <a:off x="10055039" y="3395080"/>
            <a:ext cx="894932" cy="31370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Cat.M1</a:t>
            </a:r>
            <a:endParaRPr lang="ko-KR" altLang="en-US" sz="1300" b="1" dirty="0" err="1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9" name="꺾인 연결선 48"/>
          <p:cNvCxnSpPr>
            <a:stCxn id="48" idx="0"/>
            <a:endCxn id="15" idx="3"/>
          </p:cNvCxnSpPr>
          <p:nvPr/>
        </p:nvCxnSpPr>
        <p:spPr>
          <a:xfrm rot="16200000" flipV="1">
            <a:off x="9166470" y="2059044"/>
            <a:ext cx="1828560" cy="843511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dash"/>
            <a:tailEnd type="arrow"/>
          </a:ln>
          <a:effectLst/>
        </p:spPr>
      </p:cxnSp>
      <p:sp>
        <p:nvSpPr>
          <p:cNvPr id="51" name="TextBox 50"/>
          <p:cNvSpPr txBox="1"/>
          <p:nvPr/>
        </p:nvSpPr>
        <p:spPr bwMode="auto">
          <a:xfrm rot="16200000">
            <a:off x="10006025" y="2168798"/>
            <a:ext cx="119295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Keep-Alive Message</a:t>
            </a:r>
            <a:endParaRPr kumimoji="1" lang="ko-KR" altLang="en-US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52" name="모서리가 둥근 직사각형 51"/>
          <p:cNvSpPr/>
          <p:nvPr/>
        </p:nvSpPr>
        <p:spPr bwMode="auto">
          <a:xfrm>
            <a:off x="8218834" y="2284213"/>
            <a:ext cx="1404000" cy="1024351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050" b="1" dirty="0" smtClean="0">
              <a:solidFill>
                <a:schemeClr val="tx1"/>
              </a:solidFill>
              <a:latin typeface="+mj-ea"/>
              <a:ea typeface="+mj-ea"/>
              <a:cs typeface="Arials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50" b="1" dirty="0" err="1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OpenSSH</a:t>
            </a:r>
            <a:r>
              <a:rPr lang="en-US" altLang="ko-KR" sz="1050" b="1" dirty="0" smtClean="0">
                <a:solidFill>
                  <a:schemeClr val="tx1"/>
                </a:solidFill>
                <a:latin typeface="+mj-ea"/>
                <a:ea typeface="+mj-ea"/>
                <a:cs typeface="Arials"/>
              </a:rPr>
              <a:t> Server</a:t>
            </a:r>
            <a:endParaRPr kumimoji="1" lang="en-US" altLang="ko-KR" sz="105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  <a:cs typeface="Arials"/>
            </a:endParaRPr>
          </a:p>
        </p:txBody>
      </p:sp>
      <p:cxnSp>
        <p:nvCxnSpPr>
          <p:cNvPr id="57" name="꺾인 연결선 56"/>
          <p:cNvCxnSpPr>
            <a:stCxn id="48" idx="1"/>
            <a:endCxn id="52" idx="2"/>
          </p:cNvCxnSpPr>
          <p:nvPr/>
        </p:nvCxnSpPr>
        <p:spPr>
          <a:xfrm rot="10800000">
            <a:off x="8920835" y="3308564"/>
            <a:ext cx="1134205" cy="243368"/>
          </a:xfrm>
          <a:prstGeom prst="bentConnector2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tailEnd type="arrow"/>
          </a:ln>
          <a:effectLst/>
        </p:spPr>
      </p:cxnSp>
      <p:sp>
        <p:nvSpPr>
          <p:cNvPr id="61" name="TextBox 60"/>
          <p:cNvSpPr txBox="1"/>
          <p:nvPr/>
        </p:nvSpPr>
        <p:spPr bwMode="auto">
          <a:xfrm>
            <a:off x="9735695" y="1296516"/>
            <a:ext cx="787395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i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40001, UDP</a:t>
            </a:r>
            <a:endParaRPr kumimoji="1" lang="ko-KR" altLang="en-US" i="1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62" name="TextBox 61"/>
          <p:cNvSpPr txBox="1"/>
          <p:nvPr/>
        </p:nvSpPr>
        <p:spPr bwMode="auto">
          <a:xfrm>
            <a:off x="8925399" y="3301819"/>
            <a:ext cx="497252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i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40002</a:t>
            </a:r>
            <a:endParaRPr kumimoji="1" lang="ko-KR" altLang="en-US" i="1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36" name="순서도: 직접 액세스 저장소 35"/>
          <p:cNvSpPr/>
          <p:nvPr/>
        </p:nvSpPr>
        <p:spPr bwMode="auto">
          <a:xfrm>
            <a:off x="8262403" y="2805264"/>
            <a:ext cx="1368000" cy="368953"/>
          </a:xfrm>
          <a:prstGeom prst="flowChartMagneticDrum">
            <a:avLst/>
          </a:prstGeom>
          <a:ln w="1270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spcBef>
                <a:spcPct val="20000"/>
              </a:spcBef>
              <a:buSzPct val="70000"/>
            </a:pPr>
            <a:r>
              <a:rPr lang="en-US" altLang="ko-KR" b="1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Tunnel Port</a:t>
            </a:r>
          </a:p>
          <a:p>
            <a:pPr eaLnBrk="0" hangingPunct="0">
              <a:spcBef>
                <a:spcPct val="20000"/>
              </a:spcBef>
              <a:buSzPct val="70000"/>
            </a:pP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40100~40300</a:t>
            </a:r>
            <a:endParaRPr lang="ko-KR" altLang="en-US" dirty="0" smtClean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</p:txBody>
      </p:sp>
      <p:sp>
        <p:nvSpPr>
          <p:cNvPr id="53" name="직사각형 52"/>
          <p:cNvSpPr/>
          <p:nvPr/>
        </p:nvSpPr>
        <p:spPr bwMode="auto">
          <a:xfrm>
            <a:off x="4500897" y="624797"/>
            <a:ext cx="6841158" cy="288000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spcBef>
                <a:spcPct val="20000"/>
              </a:spcBef>
              <a:buSzPct val="70000"/>
            </a:pPr>
            <a:r>
              <a:rPr lang="en-US" altLang="ko-KR" sz="1050" b="1" dirty="0" smtClean="0">
                <a:solidFill>
                  <a:srgbClr val="C00000"/>
                </a:solidFill>
                <a:latin typeface="+mn-ea"/>
                <a:cs typeface="Arials"/>
              </a:rPr>
              <a:t>c-RPCS</a:t>
            </a:r>
            <a:r>
              <a:rPr lang="ko-KR" altLang="en-US" sz="1050" b="1" dirty="0" smtClean="0">
                <a:solidFill>
                  <a:srgbClr val="C00000"/>
                </a:solidFill>
                <a:latin typeface="+mn-ea"/>
                <a:cs typeface="Arials"/>
              </a:rPr>
              <a:t> 원격접속 기능 추가</a:t>
            </a:r>
            <a:endParaRPr lang="ko-KR" altLang="en-US" sz="1050" b="1" dirty="0" smtClean="0">
              <a:solidFill>
                <a:srgbClr val="C00000"/>
              </a:solidFill>
              <a:latin typeface="+mn-ea"/>
              <a:cs typeface="Arials"/>
            </a:endParaRPr>
          </a:p>
        </p:txBody>
      </p:sp>
      <p:sp>
        <p:nvSpPr>
          <p:cNvPr id="54" name="직사각형 53"/>
          <p:cNvSpPr/>
          <p:nvPr/>
        </p:nvSpPr>
        <p:spPr bwMode="auto">
          <a:xfrm>
            <a:off x="4500897" y="914963"/>
            <a:ext cx="6841158" cy="3348373"/>
          </a:xfrm>
          <a:prstGeom prst="rect">
            <a:avLst/>
          </a:prstGeom>
          <a:noFill/>
          <a:ln w="1270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eaLnBrk="0" hangingPunct="0">
              <a:spcBef>
                <a:spcPct val="20000"/>
              </a:spcBef>
              <a:buSzPct val="70000"/>
            </a:pPr>
            <a:endParaRPr lang="ko-KR" altLang="en-US" sz="1050" b="1" dirty="0" smtClean="0">
              <a:solidFill>
                <a:srgbClr val="C00000"/>
              </a:solidFill>
              <a:latin typeface="+mn-ea"/>
              <a:cs typeface="Arials"/>
            </a:endParaRPr>
          </a:p>
        </p:txBody>
      </p:sp>
    </p:spTree>
    <p:extLst>
      <p:ext uri="{BB962C8B-B14F-4D97-AF65-F5344CB8AC3E}">
        <p14:creationId xmlns:p14="http://schemas.microsoft.com/office/powerpoint/2010/main" val="40764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] </a:t>
            </a:r>
            <a:r>
              <a:rPr lang="en-US" altLang="ko-KR" dirty="0"/>
              <a:t>TACT </a:t>
            </a:r>
            <a:r>
              <a:rPr lang="ko-KR" altLang="en-US" dirty="0" err="1" smtClean="0"/>
              <a:t>프로그램별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환경설정값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 dirty="0" smtClean="0"/>
              <a:t>2019/07/01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 bwMode="auto">
          <a:xfrm>
            <a:off x="151614" y="622887"/>
            <a:ext cx="5607099" cy="29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xxx.42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&gt;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TACTDaemon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: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DamonConfig.xml</a:t>
            </a: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&gt;118.217.79.41&lt;/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RemoteDaemon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ServerDaemonPort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&gt;43211&lt;/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ServerDaemonPort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&gt;118.217.79.42&lt;/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&gt;43214&lt;/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LauncherPort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   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▶ </a:t>
            </a:r>
            <a:r>
              <a:rPr lang="en-US" altLang="ko-KR" sz="1000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xxx.23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에서는 </a:t>
            </a:r>
            <a:r>
              <a:rPr lang="en-US" altLang="ko-KR" sz="1000" kern="0" dirty="0" smtClean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40021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사용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방화벽 허용포트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endParaRPr lang="en-US" altLang="ko-KR" sz="1000" kern="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RactLauncherChannel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LauncherServiceName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RACS_Daemon_Launcher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LauncherServiceName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&gt;118.217.79.42&lt;/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43216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DaemonPort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 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▶ 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xxx.23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에서는 </a:t>
            </a:r>
            <a:r>
              <a:rPr lang="en-US" altLang="ko-KR" sz="1000" kern="0" dirty="0" smtClean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40030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사용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방화벽 허용포트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DaemonStartCount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DaemonStartCount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RACTDaemonChannel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KAMServerConnectEnable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false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KAMServerConnectEnable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 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▶ 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xxx.23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에서는 </a:t>
            </a:r>
            <a:r>
              <a:rPr lang="en-US" altLang="ko-KR" sz="1000" kern="0" dirty="0" smtClean="0">
                <a:solidFill>
                  <a:srgbClr val="C00000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true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endParaRPr lang="en-US" altLang="ko-KR" sz="1000" kern="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&gt;118.217.79.23&lt;/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RemoteKAMServer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&gt;40009&lt;/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KAMServerPort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endParaRPr kumimoji="1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5758713" y="622887"/>
            <a:ext cx="5465407" cy="324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xxx.41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&gt;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TACTServer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: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SystemConfig.xml</a:t>
            </a: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&gt;118.217.79.41&lt;/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RemoteClient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&gt;43210&lt;/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&gt;118.217.79.11,43218&lt;/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FACT_MAIN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sa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&lt;Password&gt;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factskB~2012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&lt;/Password&gt;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DBConnectionCount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DBConnectionCount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DefaultDaemonRunCount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DefaultDaemonRunCount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DaemonUsePort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&gt;43211&lt;/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DaemonUsePort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RemoteDaemon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ServiceManagerUsePort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&gt;23451&lt;/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ServiceManagerUsePort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ServiceManagerChannelName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RemoteServiceManager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ServiceManagerChannelName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ReloadHour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ReloadHour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ReloadMinute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ReloadMinute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SSHTunnelDaemonIP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&gt;118.217.79.23,&lt;/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SSHTunnelDaemonIP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endParaRPr kumimoji="1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51614" y="3539211"/>
            <a:ext cx="4968552" cy="2287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xxx.23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&gt;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TACTRestartService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1)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SystemConfig.xml</a:t>
            </a: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CheckIntervalSeconds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&gt;15&lt;/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CheckIntervalSeconds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2</a:t>
            </a:r>
            <a:r>
              <a:rPr lang="en-US" altLang="ko-KR" sz="1000" b="1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ServiceList.xml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서비스 감시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및 </a:t>
            </a:r>
            <a:r>
              <a:rPr lang="ko-KR" altLang="en-US" sz="1000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중지시</a:t>
            </a:r>
            <a:r>
              <a:rPr lang="ko-KR" altLang="en-US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sz="1000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자동재시작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TACTServiceList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	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TACTService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	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ServiceName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TACT_KeepAliveServer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ServiceName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	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ProcessName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TACTKeepAliveServerService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ProcessName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	  &lt;Description&gt;TACT 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LTE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 Keep-Alive Server&lt;/Description&gt;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	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TACTService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TACTServiceList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+mn-ea"/>
                <a:cs typeface="MS Shell Dlg 2" pitchFamily="34" charset="0"/>
              </a:rPr>
              <a:t>&gt;</a:t>
            </a:r>
            <a:endParaRPr kumimoji="1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5761038" y="3899251"/>
            <a:ext cx="5465407" cy="3877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xxx.23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&gt;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TACTKeepAliveServer</a:t>
            </a:r>
            <a:r>
              <a:rPr lang="en-US" altLang="ko-KR" sz="1000" b="1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: </a:t>
            </a:r>
            <a:r>
              <a:rPr lang="en-US" altLang="ko-KR" sz="1000" b="1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SystemConfig.xml</a:t>
            </a:r>
            <a:endParaRPr lang="en-US" altLang="ko-KR" sz="1000" b="1" kern="0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&gt;33&lt;/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&gt;118.217.79.23&lt;/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RemoteClient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&gt;40001&lt;/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&gt;118.217.79.11,43218&lt;/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FACT_MAIN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DBName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sa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&lt;Password&gt;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factskB~2012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&lt;/Password&gt;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DBConnectionCount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DBConnectionCount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&gt;118.217.79.23&lt;/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RemoteKAMServer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DServerChannel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&gt;40009&lt;/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catm1.skbroadband.com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SSHServerIP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&gt;40002&lt;/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SSHServerPort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f_v2010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!&lt;/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SSHUserID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SSHPassword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nov@201811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SSHPassword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SSHTunnelPortRange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&gt;40101,40300&lt;/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SSHTunnelPortRange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SSHTunnelUseTimeoutSeconds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&gt;600&lt;/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SSHTunnelUseTimeoutSeconds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SSHTunnelMaxSession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&gt;8&lt;/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SSHTunnelMaxSession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KeepAliveBase64Encode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&gt;true&lt;/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KeepAliveBase64Encode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 &lt;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DaemonRequestTimeoutSeconds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&gt;300&lt;/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DaemonRequestTimeoutSeconds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</a:p>
          <a:p>
            <a:pPr marL="179388" indent="-179388" eaLnBrk="0" hangingPunct="0">
              <a:lnSpc>
                <a:spcPts val="1000"/>
              </a:lnSpc>
              <a:spcBef>
                <a:spcPct val="20000"/>
              </a:spcBef>
              <a:buSzPct val="70000"/>
            </a:pP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&lt;/</a:t>
            </a:r>
            <a:r>
              <a:rPr lang="en-US" altLang="ko-KR" sz="1000" kern="0" dirty="0" err="1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SystemConfig</a:t>
            </a:r>
            <a:r>
              <a:rPr lang="en-US" altLang="ko-KR" sz="1000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&gt;</a:t>
            </a:r>
            <a:endParaRPr kumimoji="1" lang="ko-KR" altLang="en-US" sz="100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MS Shell Dlg 2" pitchFamily="34" charset="0"/>
              <a:ea typeface="+mn-ea"/>
              <a:cs typeface="MS Shell Dlg 2" pitchFamily="34" charset="0"/>
            </a:endParaRPr>
          </a:p>
        </p:txBody>
      </p:sp>
      <p:sp>
        <p:nvSpPr>
          <p:cNvPr id="10" name="모서리가 둥근 사각형 설명선 9"/>
          <p:cNvSpPr/>
          <p:nvPr/>
        </p:nvSpPr>
        <p:spPr>
          <a:xfrm>
            <a:off x="9145413" y="4379731"/>
            <a:ext cx="1361360" cy="479160"/>
          </a:xfrm>
          <a:prstGeom prst="wedgeRoundRectCallout">
            <a:avLst>
              <a:gd name="adj1" fmla="val -143143"/>
              <a:gd name="adj2" fmla="val 37739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RPCS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장비에서 주기적으로 </a:t>
            </a:r>
            <a:r>
              <a:rPr lang="en-US" altLang="ko-KR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Keep-Alive 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메시지 수신 </a:t>
            </a:r>
            <a:r>
              <a:rPr lang="en-US" altLang="ko-KR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UDP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Arials"/>
              </a:rPr>
              <a:t>포트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1" name="모서리가 둥근 사각형 설명선 10"/>
          <p:cNvSpPr/>
          <p:nvPr/>
        </p:nvSpPr>
        <p:spPr>
          <a:xfrm>
            <a:off x="9325433" y="5735455"/>
            <a:ext cx="1008112" cy="335144"/>
          </a:xfrm>
          <a:prstGeom prst="wedgeRoundRectCallout">
            <a:avLst>
              <a:gd name="adj1" fmla="val -143143"/>
              <a:gd name="adj2" fmla="val 37739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noProof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MS Shell Dlg 2" pitchFamily="34" charset="0"/>
              </a:rPr>
              <a:t>데몬과</a:t>
            </a:r>
            <a:r>
              <a:rPr lang="ko-KR" altLang="en-US" noProof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MS Shell Dlg 2" pitchFamily="34" charset="0"/>
              </a:rPr>
              <a:t> 통신채널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5905053" y="6106603"/>
            <a:ext cx="5321392" cy="816984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36000" tIns="36000" rIns="36000" bIns="3600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r" eaLnBrk="0" hangingPunct="0">
              <a:spcBef>
                <a:spcPct val="20000"/>
              </a:spcBef>
              <a:buSzPct val="70000"/>
            </a:pPr>
            <a:r>
              <a:rPr lang="en-US" altLang="ko-KR" b="1" dirty="0" err="1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MS Shell Dlg 2" pitchFamily="34" charset="0"/>
              </a:rPr>
              <a:t>SSH</a:t>
            </a:r>
            <a:r>
              <a:rPr lang="ko-KR" altLang="en-US" b="1" dirty="0" smtClean="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MS Shell Dlg 2" pitchFamily="34" charset="0"/>
              </a:rPr>
              <a:t>터널 접속정보</a:t>
            </a:r>
          </a:p>
        </p:txBody>
      </p:sp>
      <p:sp>
        <p:nvSpPr>
          <p:cNvPr id="13" name="모서리가 둥근 사각형 설명선 12"/>
          <p:cNvSpPr/>
          <p:nvPr/>
        </p:nvSpPr>
        <p:spPr>
          <a:xfrm>
            <a:off x="10189530" y="6696455"/>
            <a:ext cx="1274541" cy="335144"/>
          </a:xfrm>
          <a:prstGeom prst="wedgeRoundRectCallout">
            <a:avLst>
              <a:gd name="adj1" fmla="val -67099"/>
              <a:gd name="adj2" fmla="val 40582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MS Shell Dlg 2" pitchFamily="34" charset="0"/>
              </a:rPr>
              <a:t>미사용터널</a:t>
            </a:r>
            <a:r>
              <a:rPr lang="ko-KR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cs typeface="MS Shell Dlg 2" pitchFamily="34" charset="0"/>
              </a:rPr>
              <a:t> 판단용 타임아웃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4" name="모서리가 둥근 사각형 설명선 13"/>
          <p:cNvSpPr/>
          <p:nvPr/>
        </p:nvSpPr>
        <p:spPr>
          <a:xfrm>
            <a:off x="10189530" y="7080975"/>
            <a:ext cx="1274542" cy="490684"/>
          </a:xfrm>
          <a:prstGeom prst="wedgeRoundRectCallout">
            <a:avLst>
              <a:gd name="adj1" fmla="val -151155"/>
              <a:gd name="adj2" fmla="val -42130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SSH</a:t>
            </a:r>
            <a:r>
              <a:rPr kumimoji="0" lang="ko-KR" altLang="en-US" sz="9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터널당 </a:t>
            </a:r>
            <a:r>
              <a:rPr kumimoji="0" lang="ko-KR" altLang="en-US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최대 접속 </a:t>
            </a:r>
            <a:r>
              <a:rPr kumimoji="0" lang="ko-KR" altLang="en-US" kern="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세션수</a:t>
            </a:r>
            <a:r>
              <a:rPr kumimoji="0" lang="en-US" altLang="ko-KR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(</a:t>
            </a:r>
            <a:r>
              <a:rPr kumimoji="0" lang="ko-KR" altLang="en-US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동일 사용자의 중복 접속 허용</a:t>
            </a:r>
            <a:r>
              <a:rPr kumimoji="0" lang="en-US" altLang="ko-KR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)</a:t>
            </a: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5" name="모서리가 둥근 사각형 설명선 14"/>
          <p:cNvSpPr/>
          <p:nvPr/>
        </p:nvSpPr>
        <p:spPr>
          <a:xfrm>
            <a:off x="4320877" y="6707563"/>
            <a:ext cx="1274541" cy="446076"/>
          </a:xfrm>
          <a:prstGeom prst="wedgeRoundRectCallout">
            <a:avLst>
              <a:gd name="adj1" fmla="val 79377"/>
              <a:gd name="adj2" fmla="val 77498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Keep-Alive</a:t>
            </a:r>
            <a:r>
              <a:rPr kumimoji="0" lang="ko-KR" altLang="en-US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메시지 내용</a:t>
            </a:r>
            <a:r>
              <a:rPr kumimoji="0" lang="en-US" altLang="ko-KR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(body)</a:t>
            </a:r>
            <a:r>
              <a:rPr kumimoji="0" lang="ko-KR" altLang="en-US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의 </a:t>
            </a:r>
            <a:r>
              <a:rPr kumimoji="0" lang="en-US" altLang="ko-KR" sz="9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Base64</a:t>
            </a:r>
            <a:r>
              <a:rPr kumimoji="0" lang="en-US" altLang="ko-KR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 </a:t>
            </a:r>
            <a:r>
              <a:rPr kumimoji="0" lang="ko-KR" altLang="en-US" sz="9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인코딩</a:t>
            </a:r>
            <a:r>
              <a:rPr kumimoji="0" lang="ko-KR" altLang="en-US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 여부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6" name="모서리가 둥근 사각형 설명선 15"/>
          <p:cNvSpPr/>
          <p:nvPr/>
        </p:nvSpPr>
        <p:spPr>
          <a:xfrm>
            <a:off x="4320876" y="7225647"/>
            <a:ext cx="1274541" cy="446076"/>
          </a:xfrm>
          <a:prstGeom prst="wedgeRoundRectCallout">
            <a:avLst>
              <a:gd name="adj1" fmla="val 78630"/>
              <a:gd name="adj2" fmla="val 2764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데몬의</a:t>
            </a:r>
            <a:r>
              <a:rPr kumimoji="0" lang="ko-KR" altLang="en-US" sz="900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S Shell Dlg 2" pitchFamily="34" charset="0"/>
                <a:ea typeface="돋움" pitchFamily="50" charset="-127"/>
                <a:cs typeface="MS Shell Dlg 2" pitchFamily="34" charset="0"/>
              </a:rPr>
              <a:t> 접속요청에 대한 처리 타임아웃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7" name="모서리가 둥근 사각형 설명선 16"/>
          <p:cNvSpPr/>
          <p:nvPr/>
        </p:nvSpPr>
        <p:spPr>
          <a:xfrm>
            <a:off x="3960837" y="4437772"/>
            <a:ext cx="1401995" cy="490684"/>
          </a:xfrm>
          <a:prstGeom prst="wedgeRoundRectCallout">
            <a:avLst>
              <a:gd name="adj1" fmla="val -65465"/>
              <a:gd name="adj2" fmla="val 50876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&lt;</a:t>
            </a:r>
            <a:r>
              <a:rPr lang="en-US" altLang="ko-KR" kern="0" dirty="0" err="1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TACTService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&gt;</a:t>
            </a:r>
            <a:r>
              <a:rPr lang="ko-KR" altLang="en-US" kern="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세트를 </a:t>
            </a:r>
            <a:r>
              <a:rPr lang="ko-KR" altLang="en-US" kern="0" dirty="0" err="1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여러개</a:t>
            </a:r>
            <a:r>
              <a:rPr lang="ko-KR" altLang="en-US" kern="0" dirty="0">
                <a:solidFill>
                  <a:schemeClr val="tx1"/>
                </a:solidFill>
                <a:latin typeface="MS Shell Dlg 2" pitchFamily="34" charset="0"/>
                <a:cs typeface="MS Shell Dlg 2" pitchFamily="34" charset="0"/>
              </a:rPr>
              <a:t> 추가 가능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  <p:sp>
        <p:nvSpPr>
          <p:cNvPr id="18" name="모서리가 둥근 사각형 설명선 17"/>
          <p:cNvSpPr/>
          <p:nvPr/>
        </p:nvSpPr>
        <p:spPr>
          <a:xfrm>
            <a:off x="3672805" y="3755429"/>
            <a:ext cx="1401995" cy="335144"/>
          </a:xfrm>
          <a:prstGeom prst="wedgeRoundRectCallout">
            <a:avLst>
              <a:gd name="adj1" fmla="val -65465"/>
              <a:gd name="adj2" fmla="val 50876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S Shell Dlg 2" pitchFamily="34" charset="0"/>
                <a:ea typeface="돋움" pitchFamily="50" charset="-127"/>
                <a:cs typeface="MS Shell Dlg 2" pitchFamily="34" charset="0"/>
              </a:rPr>
              <a:t>서비스 상태 체크 주기</a:t>
            </a:r>
            <a:endParaRPr kumimoji="0" lang="ko-KR" altLang="en-US" sz="900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S Shell Dlg 2" pitchFamily="34" charset="0"/>
              <a:ea typeface="돋움" pitchFamily="50" charset="-127"/>
              <a:cs typeface="MS Shell Dlg 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34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PuTTY_Tunnels_2018101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2877" y="2321903"/>
            <a:ext cx="4438650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직사각형 23"/>
          <p:cNvSpPr/>
          <p:nvPr/>
        </p:nvSpPr>
        <p:spPr>
          <a:xfrm>
            <a:off x="7452618" y="4748196"/>
            <a:ext cx="681844" cy="211203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localhost:23</a:t>
            </a:r>
            <a:endParaRPr kumimoji="0" lang="en-US" altLang="ko-KR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참고</a:t>
            </a:r>
            <a:r>
              <a:rPr lang="en-US" altLang="ko-KR" dirty="0" smtClean="0"/>
              <a:t>] SSH</a:t>
            </a:r>
            <a:r>
              <a:rPr lang="ko-KR" altLang="en-US" dirty="0" smtClean="0"/>
              <a:t>터널 생성 예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027" name="Picture 3" descr="C:\Users\Administrator\Downloads\PuTT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73" y="2321903"/>
            <a:ext cx="4438650" cy="426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515969" y="1008484"/>
            <a:ext cx="441499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10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CMD&gt; </a:t>
            </a:r>
            <a:r>
              <a:rPr kumimoji="0" lang="en-US" altLang="ko-KR" sz="100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</a:t>
            </a:r>
            <a:r>
              <a:rPr kumimoji="0" lang="en-US" altLang="ko-KR" sz="10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kumimoji="0" lang="en-US" altLang="ko-KR" sz="10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-R </a:t>
            </a:r>
            <a:r>
              <a:rPr kumimoji="0" lang="en-US" altLang="ko-KR" sz="1000" u="sng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40003:localhost:23</a:t>
            </a:r>
            <a:r>
              <a:rPr kumimoji="0" lang="en-US" altLang="ko-KR" sz="10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kumimoji="0" lang="en-US" altLang="ko-KR" sz="1000" u="sng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user@catm1.skbroadband.com</a:t>
            </a:r>
            <a:r>
              <a:rPr kumimoji="0" lang="en-US" altLang="ko-KR" sz="100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–p </a:t>
            </a:r>
            <a:r>
              <a:rPr kumimoji="0" lang="en-US" altLang="ko-KR" sz="1000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40101</a:t>
            </a:r>
            <a:endParaRPr kumimoji="0" lang="en-US" altLang="ko-KR" sz="1000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8" name="모서리가 둥근 사각형 설명선 7"/>
          <p:cNvSpPr/>
          <p:nvPr/>
        </p:nvSpPr>
        <p:spPr bwMode="auto">
          <a:xfrm>
            <a:off x="3742637" y="2595169"/>
            <a:ext cx="1152000" cy="252000"/>
          </a:xfrm>
          <a:prstGeom prst="wedgeRoundRectCallout">
            <a:avLst>
              <a:gd name="adj1" fmla="val 2768"/>
              <a:gd name="adj2" fmla="val 175703"/>
              <a:gd name="adj3" fmla="val 16667"/>
            </a:avLst>
          </a:prstGeom>
          <a:solidFill>
            <a:srgbClr val="FBFB8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</a:t>
            </a: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서버 </a:t>
            </a:r>
            <a:r>
              <a:rPr kumimoji="1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IP, </a:t>
            </a: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PORT</a:t>
            </a:r>
            <a:endParaRPr kumimoji="1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9" name="직사각형 8"/>
          <p:cNvSpPr/>
          <p:nvPr/>
        </p:nvSpPr>
        <p:spPr bwMode="auto">
          <a:xfrm>
            <a:off x="3598721" y="3600772"/>
            <a:ext cx="504056" cy="324036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20000"/>
              </a:spcBef>
              <a:buSzPct val="70000"/>
            </a:pPr>
            <a:endParaRPr lang="ko-KR" altLang="en-US" sz="1050" dirty="0" smtClean="0">
              <a:solidFill>
                <a:schemeClr val="tx1"/>
              </a:solidFill>
              <a:latin typeface="+mn-ea"/>
              <a:cs typeface="Arials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090982" y="3333163"/>
            <a:ext cx="1321443" cy="211203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catm1.skbroadband.com</a:t>
            </a:r>
            <a:endParaRPr kumimoji="0" lang="en-US" altLang="ko-KR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2086553" y="3204728"/>
            <a:ext cx="2592288" cy="324036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20000"/>
              </a:spcBef>
              <a:buSzPct val="70000"/>
            </a:pPr>
            <a:endParaRPr lang="ko-KR" altLang="en-US" sz="1050" dirty="0" smtClean="0">
              <a:solidFill>
                <a:schemeClr val="tx1"/>
              </a:solidFill>
              <a:latin typeface="+mn-ea"/>
              <a:cs typeface="Arials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678111" y="3850969"/>
            <a:ext cx="1177173" cy="211203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R40101   localhost:23</a:t>
            </a:r>
            <a:endParaRPr kumimoji="0" lang="en-US" altLang="ko-KR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14" name="직사각형 13"/>
          <p:cNvSpPr/>
          <p:nvPr/>
        </p:nvSpPr>
        <p:spPr bwMode="auto">
          <a:xfrm>
            <a:off x="7451149" y="4942292"/>
            <a:ext cx="720080" cy="18000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20000"/>
              </a:spcBef>
              <a:buSzPct val="70000"/>
            </a:pPr>
            <a:endParaRPr lang="ko-KR" altLang="en-US" sz="1050" dirty="0" smtClean="0">
              <a:solidFill>
                <a:schemeClr val="tx1"/>
              </a:solidFill>
              <a:latin typeface="+mn-ea"/>
              <a:cs typeface="Arials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6642107" y="3850368"/>
            <a:ext cx="2520000" cy="21180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20000"/>
              </a:spcBef>
              <a:buSzPct val="70000"/>
            </a:pPr>
            <a:endParaRPr lang="ko-KR" altLang="en-US" sz="1050" dirty="0" smtClean="0">
              <a:solidFill>
                <a:schemeClr val="tx1"/>
              </a:solidFill>
              <a:latin typeface="+mn-ea"/>
              <a:cs typeface="Arials"/>
            </a:endParaRPr>
          </a:p>
        </p:txBody>
      </p:sp>
      <p:sp>
        <p:nvSpPr>
          <p:cNvPr id="16" name="모서리가 둥근 사각형 설명선 15"/>
          <p:cNvSpPr/>
          <p:nvPr/>
        </p:nvSpPr>
        <p:spPr bwMode="auto">
          <a:xfrm>
            <a:off x="9279924" y="3834365"/>
            <a:ext cx="1283830" cy="306467"/>
          </a:xfrm>
          <a:prstGeom prst="wedgeRoundRectCallout">
            <a:avLst>
              <a:gd name="adj1" fmla="val -63317"/>
              <a:gd name="adj2" fmla="val -19501"/>
              <a:gd name="adj3" fmla="val 16667"/>
            </a:avLst>
          </a:prstGeom>
          <a:solidFill>
            <a:srgbClr val="FBFB8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아래 항목들 </a:t>
            </a:r>
            <a:r>
              <a:rPr lang="ko-KR" altLang="en-US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입력후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endParaRPr lang="en-US" altLang="ko-KR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[Add]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버튼 누르면 추가</a:t>
            </a:r>
            <a:endParaRPr kumimoji="1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17" name="모서리가 둥근 사각형 설명선 16"/>
          <p:cNvSpPr/>
          <p:nvPr/>
        </p:nvSpPr>
        <p:spPr bwMode="auto">
          <a:xfrm>
            <a:off x="8138918" y="4270887"/>
            <a:ext cx="718463" cy="153233"/>
          </a:xfrm>
          <a:prstGeom prst="wedgeRoundRectCallout">
            <a:avLst>
              <a:gd name="adj1" fmla="val -60374"/>
              <a:gd name="adj2" fmla="val 48451"/>
              <a:gd name="adj3" fmla="val 16667"/>
            </a:avLst>
          </a:prstGeom>
          <a:solidFill>
            <a:srgbClr val="FBFB8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터널링</a:t>
            </a: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포트</a:t>
            </a:r>
            <a:endParaRPr kumimoji="1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587977" y="1344010"/>
            <a:ext cx="4633000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lang="en-US" altLang="ko-KR" b="1" kern="0" dirty="0" err="1" smtClean="0">
                <a:solidFill>
                  <a:srgbClr val="0000CC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</a:t>
            </a:r>
            <a:r>
              <a:rPr lang="en-US" altLang="ko-KR" b="1" kern="0" dirty="0" smtClean="0">
                <a:solidFill>
                  <a:srgbClr val="0000CC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-R </a:t>
            </a:r>
            <a:r>
              <a:rPr kumimoji="1" lang="en-US" altLang="ko-KR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</a:t>
            </a:r>
            <a:r>
              <a:rPr kumimoji="1" lang="ko-KR" altLang="en-US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cs typeface="MS Shell Dlg 2" pitchFamily="34" charset="0"/>
              </a:rPr>
              <a:t>서버접속포트</a:t>
            </a:r>
            <a:r>
              <a:rPr kumimoji="1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:</a:t>
            </a:r>
            <a:r>
              <a:rPr kumimoji="1" lang="ko-KR" altLang="en-US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cs typeface="MS Shell Dlg 2" pitchFamily="34" charset="0"/>
              </a:rPr>
              <a:t>장비</a:t>
            </a:r>
            <a:r>
              <a:rPr kumimoji="1" lang="en-US" altLang="ko-KR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IP</a:t>
            </a:r>
            <a:r>
              <a:rPr kumimoji="1" lang="en-US" altLang="ko-KR" b="1" i="0" u="none" strike="noStrike" kern="0" cap="none" spc="0" normalizeH="0" baseline="0" noProof="0" dirty="0" smtClean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:</a:t>
            </a:r>
            <a:r>
              <a:rPr kumimoji="1" lang="ko-KR" altLang="en-US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MS Shell Dlg 2" pitchFamily="34" charset="0"/>
                <a:cs typeface="MS Shell Dlg 2" pitchFamily="34" charset="0"/>
              </a:rPr>
              <a:t>텔넷포트  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</a:t>
            </a:r>
            <a:r>
              <a:rPr lang="ko-KR" altLang="en-US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접속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ID</a:t>
            </a:r>
            <a:r>
              <a:rPr lang="en-US" altLang="ko-KR" b="1" kern="0" dirty="0">
                <a:solidFill>
                  <a:srgbClr val="0000CC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@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SSH</a:t>
            </a:r>
            <a:r>
              <a:rPr lang="ko-KR" altLang="en-US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서버주소 </a:t>
            </a:r>
            <a:r>
              <a:rPr lang="en-US" altLang="ko-KR" b="1" kern="0" dirty="0">
                <a:solidFill>
                  <a:srgbClr val="0000CC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–p</a:t>
            </a:r>
            <a:r>
              <a:rPr lang="en-US" altLang="ko-KR" kern="0" dirty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r>
              <a:rPr lang="ko-KR" altLang="en-US" kern="0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터널링포트</a:t>
            </a:r>
            <a:endParaRPr lang="ko-KR" altLang="en-US" kern="0" dirty="0">
              <a:solidFill>
                <a:schemeClr val="tx1"/>
              </a:solidFill>
              <a:latin typeface="MS Shell Dlg 2" pitchFamily="34" charset="0"/>
              <a:cs typeface="MS Shell Dlg 2" pitchFamily="34" charset="0"/>
            </a:endParaRPr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1596089" y="1216968"/>
            <a:ext cx="0" cy="1800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headEnd type="diamond" w="med" len="med"/>
            <a:tailEnd type="triangle" w="med" len="med"/>
          </a:ln>
          <a:effectLst/>
        </p:spPr>
      </p:cxnSp>
      <p:sp>
        <p:nvSpPr>
          <p:cNvPr id="23" name="직사각형 22"/>
          <p:cNvSpPr/>
          <p:nvPr/>
        </p:nvSpPr>
        <p:spPr bwMode="auto">
          <a:xfrm>
            <a:off x="5650949" y="5696433"/>
            <a:ext cx="565121" cy="211803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20000"/>
              </a:spcBef>
              <a:buSzPct val="70000"/>
            </a:pPr>
            <a:endParaRPr lang="ko-KR" altLang="en-US" sz="1050" dirty="0" smtClean="0">
              <a:solidFill>
                <a:schemeClr val="tx1"/>
              </a:solidFill>
              <a:latin typeface="+mn-ea"/>
              <a:cs typeface="Arials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7496678" y="4479214"/>
            <a:ext cx="385289" cy="180000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anchor="ctr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40101</a:t>
            </a:r>
            <a:endParaRPr kumimoji="0" lang="en-US" altLang="ko-KR" dirty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7451317" y="4735974"/>
            <a:ext cx="1728000" cy="18000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20000"/>
              </a:spcBef>
              <a:buSzPct val="70000"/>
            </a:pPr>
            <a:endParaRPr lang="ko-KR" altLang="en-US" sz="1050" dirty="0" smtClean="0">
              <a:solidFill>
                <a:schemeClr val="tx1"/>
              </a:solidFill>
              <a:latin typeface="+mn-ea"/>
              <a:cs typeface="Arials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6642107" y="4466992"/>
            <a:ext cx="1512000" cy="18000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20000"/>
              </a:spcBef>
              <a:buSzPct val="70000"/>
            </a:pPr>
            <a:endParaRPr lang="ko-KR" altLang="en-US" sz="1050" dirty="0" smtClean="0">
              <a:solidFill>
                <a:schemeClr val="tx1"/>
              </a:solidFill>
              <a:latin typeface="+mn-ea"/>
              <a:cs typeface="Arials"/>
            </a:endParaRPr>
          </a:p>
        </p:txBody>
      </p:sp>
      <p:sp>
        <p:nvSpPr>
          <p:cNvPr id="28" name="모서리가 둥근 사각형 설명선 27"/>
          <p:cNvSpPr/>
          <p:nvPr/>
        </p:nvSpPr>
        <p:spPr bwMode="auto">
          <a:xfrm>
            <a:off x="9195790" y="4704834"/>
            <a:ext cx="1597702" cy="153233"/>
          </a:xfrm>
          <a:prstGeom prst="wedgeRoundRectCallout">
            <a:avLst>
              <a:gd name="adj1" fmla="val -60374"/>
              <a:gd name="adj2" fmla="val 48451"/>
              <a:gd name="adj3" fmla="val 16667"/>
            </a:avLst>
          </a:prstGeom>
          <a:solidFill>
            <a:srgbClr val="FBFB8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장비</a:t>
            </a:r>
            <a:r>
              <a:rPr kumimoji="1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IP:</a:t>
            </a: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연결서비스</a:t>
            </a:r>
            <a:r>
              <a:rPr kumimoji="1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(</a:t>
            </a: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텔넷</a:t>
            </a:r>
            <a:r>
              <a:rPr kumimoji="1" lang="en-US" altLang="ko-K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)</a:t>
            </a:r>
            <a:r>
              <a:rPr kumimoji="1" lang="ko-KR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포트</a:t>
            </a:r>
            <a:endParaRPr kumimoji="1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  <p:cxnSp>
        <p:nvCxnSpPr>
          <p:cNvPr id="32" name="직선 화살표 연결선 31"/>
          <p:cNvCxnSpPr/>
          <p:nvPr/>
        </p:nvCxnSpPr>
        <p:spPr>
          <a:xfrm>
            <a:off x="3396289" y="1214802"/>
            <a:ext cx="0" cy="18000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headEnd type="diamond" w="med" len="med"/>
            <a:tailEnd type="triangle" w="med" len="med"/>
          </a:ln>
          <a:effectLst/>
        </p:spPr>
      </p:cxnSp>
      <p:sp>
        <p:nvSpPr>
          <p:cNvPr id="19" name="TextBox 18"/>
          <p:cNvSpPr txBox="1"/>
          <p:nvPr/>
        </p:nvSpPr>
        <p:spPr bwMode="auto">
          <a:xfrm>
            <a:off x="396441" y="737510"/>
            <a:ext cx="1326004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kumimoji="0" lang="en-US" altLang="ko-KR" sz="1050" b="1" dirty="0" smtClean="0">
                <a:solidFill>
                  <a:schemeClr val="tx1"/>
                </a:solidFill>
                <a:latin typeface="+mn-ea"/>
                <a:ea typeface="+mn-ea"/>
                <a:cs typeface="MS Shell Dlg 2" pitchFamily="34" charset="0"/>
              </a:rPr>
              <a:t>1</a:t>
            </a:r>
            <a:r>
              <a:rPr kumimoji="0" lang="en-US" altLang="ko-KR" sz="1050" b="1" dirty="0">
                <a:solidFill>
                  <a:schemeClr val="tx1"/>
                </a:solidFill>
                <a:latin typeface="+mn-ea"/>
                <a:ea typeface="+mn-ea"/>
                <a:cs typeface="MS Shell Dlg 2" pitchFamily="34" charset="0"/>
              </a:rPr>
              <a:t>) </a:t>
            </a:r>
            <a:r>
              <a:rPr kumimoji="0" lang="en-US" altLang="ko-KR" sz="1050" b="1" dirty="0" smtClean="0">
                <a:solidFill>
                  <a:schemeClr val="tx1"/>
                </a:solidFill>
                <a:latin typeface="+mn-ea"/>
                <a:ea typeface="+mn-ea"/>
                <a:cs typeface="MS Shell Dlg 2" pitchFamily="34" charset="0"/>
              </a:rPr>
              <a:t>SSH Command</a:t>
            </a:r>
            <a:endParaRPr kumimoji="0" lang="en-US" altLang="ko-KR" sz="1050" b="1" dirty="0">
              <a:solidFill>
                <a:schemeClr val="tx1"/>
              </a:solidFill>
              <a:latin typeface="+mn-ea"/>
              <a:ea typeface="+mn-ea"/>
              <a:cs typeface="MS Shell Dlg 2" pitchFamily="34" charset="0"/>
            </a:endParaRPr>
          </a:p>
        </p:txBody>
      </p:sp>
      <p:sp>
        <p:nvSpPr>
          <p:cNvPr id="34" name="TextBox 33"/>
          <p:cNvSpPr txBox="1"/>
          <p:nvPr/>
        </p:nvSpPr>
        <p:spPr bwMode="auto">
          <a:xfrm>
            <a:off x="396441" y="2016596"/>
            <a:ext cx="700833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79388" indent="-179388" eaLnBrk="0" hangingPunct="0">
              <a:spcBef>
                <a:spcPct val="20000"/>
              </a:spcBef>
              <a:buSzPct val="70000"/>
            </a:pPr>
            <a:r>
              <a:rPr kumimoji="0" lang="en-US" altLang="ko-KR" sz="1050" b="1" dirty="0" smtClean="0">
                <a:solidFill>
                  <a:schemeClr val="tx1"/>
                </a:solidFill>
                <a:latin typeface="+mn-ea"/>
                <a:ea typeface="+mn-ea"/>
                <a:cs typeface="MS Shell Dlg 2" pitchFamily="34" charset="0"/>
              </a:rPr>
              <a:t>2) putty</a:t>
            </a:r>
            <a:endParaRPr kumimoji="0" lang="en-US" altLang="ko-KR" sz="1050" b="1" dirty="0">
              <a:solidFill>
                <a:schemeClr val="tx1"/>
              </a:solidFill>
              <a:latin typeface="+mn-ea"/>
              <a:ea typeface="+mn-ea"/>
              <a:cs typeface="MS Shell Dlg 2" pitchFamily="34" charset="0"/>
            </a:endParaRPr>
          </a:p>
        </p:txBody>
      </p:sp>
      <p:sp>
        <p:nvSpPr>
          <p:cNvPr id="35" name="직사각형 34"/>
          <p:cNvSpPr/>
          <p:nvPr/>
        </p:nvSpPr>
        <p:spPr bwMode="auto">
          <a:xfrm>
            <a:off x="7669051" y="6255543"/>
            <a:ext cx="756000" cy="21600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36000" tIns="36000" rIns="36000" bIns="3600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eaLnBrk="0" hangingPunct="0">
              <a:spcBef>
                <a:spcPct val="20000"/>
              </a:spcBef>
              <a:buSzPct val="70000"/>
            </a:pPr>
            <a:endParaRPr lang="ko-KR" altLang="en-US" sz="1050" dirty="0" smtClean="0">
              <a:solidFill>
                <a:schemeClr val="tx1"/>
              </a:solidFill>
              <a:latin typeface="+mn-ea"/>
              <a:cs typeface="Arials"/>
            </a:endParaRPr>
          </a:p>
        </p:txBody>
      </p:sp>
      <p:sp>
        <p:nvSpPr>
          <p:cNvPr id="36" name="모서리가 둥근 사각형 설명선 35"/>
          <p:cNvSpPr/>
          <p:nvPr/>
        </p:nvSpPr>
        <p:spPr bwMode="auto">
          <a:xfrm>
            <a:off x="7783136" y="5814585"/>
            <a:ext cx="1928762" cy="306467"/>
          </a:xfrm>
          <a:prstGeom prst="wedgeRoundRectCallout">
            <a:avLst>
              <a:gd name="adj1" fmla="val -36601"/>
              <a:gd name="adj2" fmla="val 89279"/>
              <a:gd name="adj3" fmla="val 16667"/>
            </a:avLst>
          </a:prstGeom>
          <a:solidFill>
            <a:srgbClr val="FBFB8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0" rIns="1800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[Add]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버튼으로 </a:t>
            </a:r>
            <a:r>
              <a:rPr lang="ko-KR" altLang="en-US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포워딩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포트 </a:t>
            </a:r>
            <a:r>
              <a:rPr lang="ko-KR" altLang="en-US" dirty="0" err="1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추가후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 </a:t>
            </a:r>
            <a:endParaRPr lang="en-US" altLang="ko-KR" dirty="0" smtClean="0">
              <a:solidFill>
                <a:schemeClr val="tx1"/>
              </a:solidFill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[Open]</a:t>
            </a:r>
            <a:r>
              <a:rPr lang="ko-KR" altLang="en-US" dirty="0" smtClean="0">
                <a:solidFill>
                  <a:schemeClr val="tx1"/>
                </a:solidFill>
                <a:latin typeface="MS Shell Dlg 2" pitchFamily="34" charset="0"/>
                <a:ea typeface="MS Shell Dlg 2" pitchFamily="34" charset="0"/>
                <a:cs typeface="MS Shell Dlg 2" pitchFamily="34" charset="0"/>
              </a:rPr>
              <a:t>으로 실행</a:t>
            </a:r>
            <a:endParaRPr kumimoji="1" lang="en-US" altLang="ko-K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MS Shell Dlg 2" pitchFamily="34" charset="0"/>
              <a:ea typeface="MS Shell Dlg 2" pitchFamily="34" charset="0"/>
              <a:cs typeface="MS Shell Dlg 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951252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사용자 지정 1">
      <a:majorFont>
        <a:latin typeface="Moebius"/>
        <a:ea typeface="맑은 고딕"/>
        <a:cs typeface=""/>
      </a:majorFont>
      <a:minorFont>
        <a:latin typeface="Moebius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 w="12700">
          <a:headEnd type="none" w="med" len="med"/>
          <a:tailEnd type="none" w="med" len="med"/>
        </a:ln>
      </a:spPr>
      <a:bodyPr vert="horz" wrap="none" lIns="36000" tIns="36000" rIns="36000" bIns="36000" numCol="1" rtlCol="0" anchor="t" anchorCtr="0" compatLnSpc="1">
        <a:prstTxWarp prst="textNoShape">
          <a:avLst/>
        </a:prstTxWarp>
        <a:spAutoFit/>
      </a:bodyPr>
      <a:lstStyle>
        <a:defPPr eaLnBrk="0" hangingPunct="0">
          <a:spcBef>
            <a:spcPct val="20000"/>
          </a:spcBef>
          <a:buSzPct val="70000"/>
          <a:defRPr sz="1050" dirty="0" smtClean="0">
            <a:solidFill>
              <a:schemeClr val="tx1"/>
            </a:solidFill>
            <a:latin typeface="+mn-ea"/>
            <a:cs typeface="Arials"/>
          </a:defRPr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>
        <a:noFill/>
        <a:ln w="12700" cap="flat" cmpd="sng" algn="ctr">
          <a:solidFill>
            <a:sysClr val="windowText" lastClr="000000"/>
          </a:solidFill>
          <a:prstDash val="solid"/>
          <a:tailEnd type="triangle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179388" marR="0" indent="-179388" algn="l" defTabSz="914400" rtl="0" eaLnBrk="0" fontAlgn="base" latinLnBrk="1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Pct val="70000"/>
          <a:buFont typeface="Wingdings" pitchFamily="2" charset="2"/>
          <a:buNone/>
          <a:tabLst/>
          <a:defRPr kumimoji="1" sz="1000" b="1" i="0" u="none" strike="noStrike" kern="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</a:defRPr>
        </a:defPPr>
      </a:lstStyle>
    </a:txDef>
  </a:objectDefaults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630474</TotalTime>
  <Pages>0</Pages>
  <Words>1462</Words>
  <Characters>0</Characters>
  <Application>Microsoft Office PowerPoint</Application>
  <PresentationFormat>사용자 지정</PresentationFormat>
  <Lines>0</Lines>
  <Paragraphs>406</Paragraphs>
  <Slides>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HeadingPairs>
  <TitlesOfParts>
    <vt:vector size="9" baseType="lpstr">
      <vt:lpstr>1_디자인 사용자 지정</vt:lpstr>
      <vt:lpstr>디자인 사용자 지정</vt:lpstr>
      <vt:lpstr>PowerPoint 프레젠테이션</vt:lpstr>
      <vt:lpstr>연동 데이터 흐름도</vt:lpstr>
      <vt:lpstr>KAM(Keep-Alive Message): Cat.M1KAMServer 통신 규약 정의</vt:lpstr>
      <vt:lpstr>[TACT] c-RPCS장비에 LTE접속 흐름도</vt:lpstr>
      <vt:lpstr>[TACT] 원격통신채널 연관도</vt:lpstr>
      <vt:lpstr>[참고] TACT 프로그램별 환경설정값</vt:lpstr>
      <vt:lpstr>[참고] SSH터널 생성 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yjlee</dc:creator>
  <cp:lastModifiedBy>Windows 사용자</cp:lastModifiedBy>
  <cp:revision>7610</cp:revision>
  <dcterms:modified xsi:type="dcterms:W3CDTF">2019-07-01T09:34:47Z</dcterms:modified>
</cp:coreProperties>
</file>