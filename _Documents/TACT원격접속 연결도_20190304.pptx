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2" r:id="rId1"/>
    <p:sldMasterId id="2147483739" r:id="rId2"/>
  </p:sldMasterIdLst>
  <p:notesMasterIdLst>
    <p:notesMasterId r:id="rId6"/>
  </p:notesMasterIdLst>
  <p:handoutMasterIdLst>
    <p:handoutMasterId r:id="rId7"/>
  </p:handoutMasterIdLst>
  <p:sldIdLst>
    <p:sldId id="1447" r:id="rId3"/>
    <p:sldId id="1448" r:id="rId4"/>
    <p:sldId id="1446" r:id="rId5"/>
  </p:sldIdLst>
  <p:sldSz cx="11522075" cy="7921625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1pPr>
    <a:lvl2pPr marL="4572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2pPr>
    <a:lvl3pPr marL="9144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3pPr>
    <a:lvl4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4pPr>
    <a:lvl5pPr marL="1828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5pPr>
    <a:lvl6pPr marL="22860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6pPr>
    <a:lvl7pPr marL="27432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7pPr>
    <a:lvl8pPr marL="32004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8pPr>
    <a:lvl9pPr marL="36576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9pPr>
  </p:defaultTextStyle>
  <p:extLst>
    <p:ext uri="{EFAFB233-063F-42B5-8137-9DF3F51BA10A}">
      <p15:sldGuideLst xmlns:p15="http://schemas.microsoft.com/office/powerpoint/2012/main" xmlns="">
        <p15:guide id="1" orient="horz">
          <p15:clr>
            <a:srgbClr val="A4A3A4"/>
          </p15:clr>
        </p15:guide>
        <p15:guide id="2" orient="horz" pos="2495">
          <p15:clr>
            <a:srgbClr val="A4A3A4"/>
          </p15:clr>
        </p15:guide>
        <p15:guide id="3">
          <p15:clr>
            <a:srgbClr val="A4A3A4"/>
          </p15:clr>
        </p15:guide>
        <p15:guide id="4" pos="36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5105"/>
    <a:srgbClr val="0000CC"/>
    <a:srgbClr val="7D86AB"/>
    <a:srgbClr val="474E6D"/>
    <a:srgbClr val="13151D"/>
    <a:srgbClr val="FBFB8D"/>
    <a:srgbClr val="89CD9E"/>
    <a:srgbClr val="0066CC"/>
    <a:srgbClr val="FFCCC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5" autoAdjust="0"/>
    <p:restoredTop sz="95186" autoAdjust="0"/>
  </p:normalViewPr>
  <p:slideViewPr>
    <p:cSldViewPr>
      <p:cViewPr varScale="1">
        <p:scale>
          <a:sx n="80" d="100"/>
          <a:sy n="80" d="100"/>
        </p:scale>
        <p:origin x="-1140" y="-102"/>
      </p:cViewPr>
      <p:guideLst>
        <p:guide orient="horz"/>
        <p:guide orient="horz" pos="2450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888"/>
    </p:cViewPr>
  </p:sorterViewPr>
  <p:notesViewPr>
    <p:cSldViewPr>
      <p:cViewPr varScale="1">
        <p:scale>
          <a:sx n="56" d="100"/>
          <a:sy n="56" d="100"/>
        </p:scale>
        <p:origin x="-2316" y="-84"/>
      </p:cViewPr>
      <p:guideLst>
        <p:guide orient="horz" pos="3127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56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56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fld id="{97D94FCB-B5A8-4D6A-9275-DBA8DB8B986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84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42" y="1"/>
            <a:ext cx="2944549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2150" y="744538"/>
            <a:ext cx="54133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5" y="4715194"/>
            <a:ext cx="5438774" cy="4466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42" y="9428801"/>
            <a:ext cx="2944549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fld id="{DCE95D73-334E-43E1-B409-07F690377807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70591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7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65714058"/>
              </p:ext>
            </p:extLst>
          </p:nvPr>
        </p:nvGraphicFramePr>
        <p:xfrm>
          <a:off x="316935" y="217899"/>
          <a:ext cx="10888209" cy="7319477"/>
        </p:xfrm>
        <a:graphic>
          <a:graphicData uri="http://schemas.openxmlformats.org/drawingml/2006/table">
            <a:tbl>
              <a:tblPr/>
              <a:tblGrid>
                <a:gridCol w="10888209"/>
              </a:tblGrid>
              <a:tr h="1580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8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내용 개체 틀 4"/>
          <p:cNvSpPr>
            <a:spLocks noGrp="1"/>
          </p:cNvSpPr>
          <p:nvPr>
            <p:ph sz="quarter" idx="10"/>
          </p:nvPr>
        </p:nvSpPr>
        <p:spPr>
          <a:xfrm>
            <a:off x="316057" y="1820876"/>
            <a:ext cx="10889961" cy="581285"/>
          </a:xfrm>
          <a:prstGeom prst="rect">
            <a:avLst/>
          </a:prstGeom>
        </p:spPr>
        <p:txBody>
          <a:bodyPr lIns="106052" tIns="53026" rIns="106052" bIns="53026" anchor="ctr"/>
          <a:lstStyle>
            <a:lvl1pPr marL="0" indent="0" algn="ctr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1pPr>
            <a:lvl2pPr marL="530261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2pPr>
            <a:lvl3pPr marL="1060521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3pPr>
            <a:lvl4pPr marL="1590782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4pPr>
            <a:lvl5pPr marL="2121042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2349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425" y="144388"/>
            <a:ext cx="9145016" cy="39974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9613465" y="7541467"/>
            <a:ext cx="15220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0B85316D-19E4-47D9-AC04-1B4D47FE9DA4}" type="slidenum">
              <a:rPr lang="en-US" altLang="ko-KR" sz="1400" b="1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algn="r" eaLnBrk="1" hangingPunct="1">
                <a:defRPr/>
              </a:pPr>
              <a:t>‹#›</a:t>
            </a:fld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 </a:t>
            </a:r>
            <a:endParaRPr lang="ko-KR" altLang="en-US" sz="1400" b="1" dirty="0" smtClean="0">
              <a:latin typeface="맑은 고딕" pitchFamily="50" charset="-127"/>
              <a:ea typeface="맑은 고딕" pitchFamily="50" charset="-127"/>
              <a:cs typeface="Arial Unicode MS" pitchFamily="50" charset="-127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08409" y="7541467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Last updated:</a:t>
            </a:r>
            <a:endParaRPr lang="ko-KR" altLang="en-US" sz="1000" b="1" i="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9" hasCustomPrompt="1"/>
          </p:nvPr>
        </p:nvSpPr>
        <p:spPr>
          <a:xfrm>
            <a:off x="1099813" y="7541467"/>
            <a:ext cx="1230137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0" baseline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smtClean="0"/>
              <a:t>YYYY/MM/DD</a:t>
            </a:r>
            <a:endParaRPr lang="ko-KR" altLang="en-US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8409" y="7541467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Last updated:</a:t>
            </a:r>
            <a:endParaRPr lang="ko-KR" altLang="en-US" sz="1000" b="1" i="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9" hasCustomPrompt="1"/>
          </p:nvPr>
        </p:nvSpPr>
        <p:spPr>
          <a:xfrm>
            <a:off x="1099813" y="7541467"/>
            <a:ext cx="1230137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0" baseline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smtClean="0"/>
              <a:t>YYYY/MM/DD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62004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2425" y="144388"/>
            <a:ext cx="7668852" cy="39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6052" tIns="53026" rIns="106052" bIns="530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Header Ling (</a:t>
            </a:r>
            <a:r>
              <a:rPr lang="ko-KR" altLang="en-US" smtClean="0"/>
              <a:t>맑은고딕</a:t>
            </a:r>
            <a:r>
              <a:rPr lang="en-US" altLang="ko-KR" smtClean="0"/>
              <a:t>, English-Arial Font 16) </a:t>
            </a:r>
          </a:p>
        </p:txBody>
      </p:sp>
      <p:sp>
        <p:nvSpPr>
          <p:cNvPr id="3934214" name="Rectangle 6"/>
          <p:cNvSpPr>
            <a:spLocks noChangeArrowheads="1"/>
          </p:cNvSpPr>
          <p:nvPr userDrawn="1"/>
        </p:nvSpPr>
        <p:spPr bwMode="ltGray">
          <a:xfrm>
            <a:off x="5596701" y="7536546"/>
            <a:ext cx="332368" cy="33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2713" tIns="62713" rIns="62713" bIns="62713" anchor="ctr"/>
          <a:lstStyle/>
          <a:p>
            <a:pPr defTabSz="1062363" eaLnBrk="0" latinLnBrk="0" hangingPunct="0">
              <a:defRPr/>
            </a:pPr>
            <a:endParaRPr kumimoji="0" lang="en-GB" altLang="ko-KR" sz="1400" b="1" dirty="0">
              <a:solidFill>
                <a:srgbClr val="3333CC"/>
              </a:solidFill>
              <a:latin typeface="Optima" pitchFamily="34" charset="0"/>
              <a:ea typeface="가는각진제목체" pitchFamily="18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891088" y="7578723"/>
            <a:ext cx="3609881" cy="265887"/>
          </a:xfrm>
          <a:prstGeom prst="rect">
            <a:avLst/>
          </a:prstGeom>
          <a:noFill/>
        </p:spPr>
        <p:txBody>
          <a:bodyPr lIns="106052" tIns="53026" rIns="106052" bIns="53026">
            <a:spAutoFit/>
          </a:bodyPr>
          <a:lstStyle/>
          <a:p>
            <a:pPr algn="r">
              <a:defRPr/>
            </a:pPr>
            <a:r>
              <a:rPr lang="ko-KR" altLang="en-US" sz="1000" dirty="0" smtClean="0">
                <a:latin typeface="+mn-ea"/>
                <a:ea typeface="+mn-ea"/>
              </a:rPr>
              <a:t>윤두석</a:t>
            </a:r>
            <a:r>
              <a:rPr lang="en-US" altLang="ko-KR" sz="1000" dirty="0" smtClean="0">
                <a:latin typeface="+mn-ea"/>
                <a:ea typeface="+mn-ea"/>
              </a:rPr>
              <a:t>/ Network</a:t>
            </a:r>
            <a:r>
              <a:rPr lang="ko-KR" altLang="en-US" sz="1000" dirty="0" smtClean="0">
                <a:latin typeface="+mn-ea"/>
                <a:ea typeface="+mn-ea"/>
              </a:rPr>
              <a:t>관리센터 </a:t>
            </a:r>
            <a:r>
              <a:rPr lang="en-US" altLang="ko-KR" sz="1000" dirty="0">
                <a:latin typeface="+mn-ea"/>
                <a:ea typeface="+mn-ea"/>
              </a:rPr>
              <a:t>/ </a:t>
            </a:r>
            <a:r>
              <a:rPr lang="en-US" altLang="ko-KR" sz="1000" dirty="0" smtClean="0">
                <a:latin typeface="+mn-ea"/>
                <a:ea typeface="+mn-ea"/>
              </a:rPr>
              <a:t>010-5004-0053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0857340" y="7578723"/>
            <a:ext cx="891854" cy="265887"/>
          </a:xfrm>
          <a:prstGeom prst="rect">
            <a:avLst/>
          </a:prstGeom>
          <a:noFill/>
        </p:spPr>
        <p:txBody>
          <a:bodyPr lIns="106052" tIns="53026" rIns="106052" bIns="53026">
            <a:spAutoFit/>
          </a:bodyPr>
          <a:lstStyle/>
          <a:p>
            <a:pPr algn="l"/>
            <a:fld id="{68E9DF72-591E-47B8-9224-9C980CBC48D0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 algn="l"/>
              <a:t>‹#›</a:t>
            </a:fld>
            <a:endParaRPr lang="en-US" altLang="ko-KR" sz="1000" b="1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252425" y="540432"/>
            <a:ext cx="109092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6" r:id="rId2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530261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1060521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1590782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2121042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9pPr>
    </p:titleStyle>
    <p:bodyStyle>
      <a:lvl1pPr marL="208054" indent="-208054" algn="l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defRPr kumimoji="1" sz="1600" b="1">
          <a:solidFill>
            <a:schemeClr val="tx1"/>
          </a:solidFill>
          <a:latin typeface="맑은 고딕" pitchFamily="50" charset="-127"/>
          <a:ea typeface="+mn-ea"/>
          <a:cs typeface="+mn-cs"/>
        </a:defRPr>
      </a:lvl1pPr>
      <a:lvl2pPr marL="513690" indent="-9758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940845" indent="-11047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454534" indent="-208054" algn="l" rtl="0" eaLnBrk="0" fontAlgn="base" latinLnBrk="1" hangingPunct="0">
        <a:spcBef>
          <a:spcPct val="20000"/>
        </a:spcBef>
        <a:spcAft>
          <a:spcPct val="0"/>
        </a:spcAft>
        <a:buFont typeface="Optima" pitchFamily="2" charset="2"/>
        <a:buChar char=""/>
        <a:defRPr kumimoji="1" sz="1400">
          <a:solidFill>
            <a:schemeClr val="tx1"/>
          </a:solidFill>
          <a:latin typeface="+mn-lt"/>
          <a:ea typeface="+mn-ea"/>
        </a:defRPr>
      </a:lvl4pPr>
      <a:lvl5pPr marL="2386173" indent="-26513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916433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3446694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976954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4507215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0261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0521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0782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21042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303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81563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1824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42084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76263" y="317500"/>
            <a:ext cx="10369550" cy="131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76263" y="1847850"/>
            <a:ext cx="10369550" cy="5229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76263" y="7342188"/>
            <a:ext cx="2687637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4CBD6-52B5-4E05-903E-524A821C86F6}" type="datetimeFigureOut">
              <a:rPr lang="ko-KR" altLang="en-US" smtClean="0"/>
              <a:t>3/4(Mon)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937000" y="7342188"/>
            <a:ext cx="3648075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258175" y="7342188"/>
            <a:ext cx="26876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75439-D429-4180-817C-27D19D2147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5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504453" y="1008484"/>
            <a:ext cx="3888432" cy="309634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TACTDaemon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모서리가 둥근 직사각형 39"/>
          <p:cNvSpPr/>
          <p:nvPr/>
        </p:nvSpPr>
        <p:spPr bwMode="auto">
          <a:xfrm>
            <a:off x="1683060" y="3276784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TACT </a:t>
            </a:r>
            <a:r>
              <a:rPr lang="ko-KR" altLang="en-US" dirty="0" smtClean="0"/>
              <a:t>원격통신채널 연관도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2019/03/04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632765" y="3223826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lang="en-US" altLang="ko-KR" sz="1050" b="1" dirty="0" smtClean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KAMServer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kumimoji="1" lang="ko-KR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미접속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6301097" y="4400265"/>
            <a:ext cx="4464496" cy="1864803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TACTServer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6085073" y="1008483"/>
            <a:ext cx="5076563" cy="2847438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TACTKeepAliverServer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2209911" y="4844568"/>
            <a:ext cx="2844000" cy="1145582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TACTClient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452936" y="1332520"/>
            <a:ext cx="2376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2" name="모서리가 둥근 직사각형 11"/>
          <p:cNvSpPr/>
          <p:nvPr/>
        </p:nvSpPr>
        <p:spPr bwMode="auto">
          <a:xfrm>
            <a:off x="2608018" y="5288353"/>
            <a:ext cx="1784867" cy="56729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RACTClient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3" name="모서리가 둥근 직사각형 12"/>
          <p:cNvSpPr/>
          <p:nvPr/>
        </p:nvSpPr>
        <p:spPr bwMode="auto">
          <a:xfrm>
            <a:off x="6707607" y="5336425"/>
            <a:ext cx="1584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RACTServer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8137301" y="4724357"/>
            <a:ext cx="2052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RACTServerServiceManager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8867457" y="1332520"/>
            <a:ext cx="2159689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TACTKeepAliverServer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18" name="꺾인 연결선 17"/>
          <p:cNvCxnSpPr>
            <a:stCxn id="5" idx="2"/>
            <a:endCxn id="6" idx="0"/>
          </p:cNvCxnSpPr>
          <p:nvPr/>
        </p:nvCxnSpPr>
        <p:spPr>
          <a:xfrm rot="5400000">
            <a:off x="2283691" y="2860728"/>
            <a:ext cx="720172" cy="60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7" name="꺾인 연결선 16"/>
          <p:cNvCxnSpPr>
            <a:stCxn id="10" idx="2"/>
            <a:endCxn id="5" idx="0"/>
          </p:cNvCxnSpPr>
          <p:nvPr/>
        </p:nvCxnSpPr>
        <p:spPr>
          <a:xfrm rot="16200000" flipH="1">
            <a:off x="2490295" y="1951160"/>
            <a:ext cx="307134" cy="585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21" name="모서리가 둥근 직사각형 20"/>
          <p:cNvSpPr/>
          <p:nvPr/>
        </p:nvSpPr>
        <p:spPr bwMode="auto">
          <a:xfrm>
            <a:off x="1596765" y="2709030"/>
            <a:ext cx="2088000" cy="38741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RACTDaemonExe.exe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DaemonProcess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실행을 위해서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cs typeface="MS Shell Dlg 2" pitchFamily="34" charset="0"/>
              </a:rPr>
              <a:t>사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용</a:t>
            </a:r>
            <a:r>
              <a:rPr kumimoji="1" lang="en-US" altLang="ko-KR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cxnSp>
        <p:nvCxnSpPr>
          <p:cNvPr id="23" name="꺾인 연결선 22"/>
          <p:cNvCxnSpPr>
            <a:stCxn id="6" idx="2"/>
            <a:endCxn id="13" idx="0"/>
          </p:cNvCxnSpPr>
          <p:nvPr/>
        </p:nvCxnSpPr>
        <p:spPr>
          <a:xfrm rot="16200000" flipH="1">
            <a:off x="4229887" y="2066704"/>
            <a:ext cx="1680599" cy="485884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6" name="꺾인 연결선 25"/>
          <p:cNvCxnSpPr>
            <a:stCxn id="14" idx="2"/>
            <a:endCxn id="13" idx="3"/>
          </p:cNvCxnSpPr>
          <p:nvPr/>
        </p:nvCxnSpPr>
        <p:spPr>
          <a:xfrm rot="5400000">
            <a:off x="8538420" y="4945544"/>
            <a:ext cx="378068" cy="87169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0" name="꺾인 연결선 29"/>
          <p:cNvCxnSpPr>
            <a:stCxn id="12" idx="3"/>
            <a:endCxn id="13" idx="1"/>
          </p:cNvCxnSpPr>
          <p:nvPr/>
        </p:nvCxnSpPr>
        <p:spPr>
          <a:xfrm flipV="1">
            <a:off x="4392885" y="5570425"/>
            <a:ext cx="2314722" cy="157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37" name="TextBox 36"/>
          <p:cNvSpPr txBox="1"/>
          <p:nvPr/>
        </p:nvSpPr>
        <p:spPr bwMode="auto">
          <a:xfrm>
            <a:off x="5807427" y="4740415"/>
            <a:ext cx="138371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43211,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8615429" y="2069663"/>
            <a:ext cx="151195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40009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1067654" y="1870484"/>
            <a:ext cx="166904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43214,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5070186" y="5590765"/>
            <a:ext cx="12442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43210,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9163301" y="5166229"/>
            <a:ext cx="176522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23451,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RemoteServiceManager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6552798" y="3312788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32" name="모서리가 둥근 직사각형 31"/>
          <p:cNvSpPr/>
          <p:nvPr/>
        </p:nvSpPr>
        <p:spPr bwMode="auto">
          <a:xfrm>
            <a:off x="6491607" y="3268202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lang="en-US" altLang="ko-KR" sz="1050" b="1" dirty="0" smtClean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KAMServer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접속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,</a:t>
            </a:r>
            <a:r>
              <a:rPr lang="en-US" altLang="ko-KR" dirty="0" err="1" smtClean="0">
                <a:solidFill>
                  <a:schemeClr val="tx1"/>
                </a:solidFill>
                <a:cs typeface="MS Shell Dlg 2" pitchFamily="34" charset="0"/>
              </a:rPr>
              <a:t>LTE</a:t>
            </a:r>
            <a:r>
              <a:rPr lang="ko-KR" altLang="en-US" dirty="0" smtClean="0">
                <a:solidFill>
                  <a:schemeClr val="tx1"/>
                </a:solidFill>
                <a:cs typeface="MS Shell Dlg 2" pitchFamily="34" charset="0"/>
              </a:rPr>
              <a:t>접속 지원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cxnSp>
        <p:nvCxnSpPr>
          <p:cNvPr id="35" name="꺾인 연결선 34"/>
          <p:cNvCxnSpPr>
            <a:stCxn id="32" idx="3"/>
            <a:endCxn id="15" idx="2"/>
          </p:cNvCxnSpPr>
          <p:nvPr/>
        </p:nvCxnSpPr>
        <p:spPr>
          <a:xfrm flipV="1">
            <a:off x="8507607" y="1800520"/>
            <a:ext cx="1439695" cy="1683682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1" name="꺾인 연결선 40"/>
          <p:cNvCxnSpPr>
            <a:stCxn id="32" idx="2"/>
            <a:endCxn id="13" idx="0"/>
          </p:cNvCxnSpPr>
          <p:nvPr/>
        </p:nvCxnSpPr>
        <p:spPr>
          <a:xfrm rot="5400000">
            <a:off x="6681496" y="4518313"/>
            <a:ext cx="1636223" cy="1270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5" name="모서리가 둥근 직사각형 4"/>
          <p:cNvSpPr/>
          <p:nvPr/>
        </p:nvSpPr>
        <p:spPr bwMode="auto">
          <a:xfrm>
            <a:off x="1764789" y="2107654"/>
            <a:ext cx="1764000" cy="396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64" name="모서리가 둥근 직사각형 63"/>
          <p:cNvSpPr/>
          <p:nvPr/>
        </p:nvSpPr>
        <p:spPr bwMode="auto">
          <a:xfrm>
            <a:off x="6311778" y="1332520"/>
            <a:ext cx="2376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65" name="꺾인 연결선 64"/>
          <p:cNvCxnSpPr>
            <a:stCxn id="64" idx="2"/>
            <a:endCxn id="68" idx="0"/>
          </p:cNvCxnSpPr>
          <p:nvPr/>
        </p:nvCxnSpPr>
        <p:spPr>
          <a:xfrm rot="5400000">
            <a:off x="7345672" y="1953548"/>
            <a:ext cx="307134" cy="10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67" name="TextBox 66"/>
          <p:cNvSpPr txBox="1"/>
          <p:nvPr/>
        </p:nvSpPr>
        <p:spPr bwMode="auto">
          <a:xfrm>
            <a:off x="7027364" y="1872580"/>
            <a:ext cx="166904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40021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68" name="모서리가 둥근 직사각형 67"/>
          <p:cNvSpPr/>
          <p:nvPr/>
        </p:nvSpPr>
        <p:spPr bwMode="auto">
          <a:xfrm>
            <a:off x="6616699" y="2107654"/>
            <a:ext cx="1764000" cy="4262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69" name="TextBox 68"/>
          <p:cNvSpPr txBox="1"/>
          <p:nvPr/>
        </p:nvSpPr>
        <p:spPr bwMode="auto">
          <a:xfrm>
            <a:off x="8533345" y="3456756"/>
            <a:ext cx="2135521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(&lt;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갯수만큼</a:t>
            </a:r>
            <a:r>
              <a:rPr lang="ko-KR" altLang="en-US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실행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</p:txBody>
      </p:sp>
      <p:cxnSp>
        <p:nvCxnSpPr>
          <p:cNvPr id="70" name="꺾인 연결선 69"/>
          <p:cNvCxnSpPr>
            <a:stCxn id="68" idx="2"/>
            <a:endCxn id="32" idx="0"/>
          </p:cNvCxnSpPr>
          <p:nvPr/>
        </p:nvCxnSpPr>
        <p:spPr>
          <a:xfrm rot="16200000" flipH="1">
            <a:off x="7131989" y="2900584"/>
            <a:ext cx="734328" cy="90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73" name="모서리가 둥근 직사각형 72"/>
          <p:cNvSpPr/>
          <p:nvPr/>
        </p:nvSpPr>
        <p:spPr bwMode="auto">
          <a:xfrm>
            <a:off x="6455607" y="2709030"/>
            <a:ext cx="2088000" cy="38741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RACTDaemonExe.exe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DaemonProcess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실행을 위해서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cs typeface="MS Shell Dlg 2" pitchFamily="34" charset="0"/>
              </a:rPr>
              <a:t>사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용</a:t>
            </a:r>
            <a:r>
              <a:rPr kumimoji="1" lang="en-US" altLang="ko-KR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cxnSp>
        <p:nvCxnSpPr>
          <p:cNvPr id="96" name="구부러진 연결선 95"/>
          <p:cNvCxnSpPr>
            <a:stCxn id="12" idx="0"/>
            <a:endCxn id="32" idx="1"/>
          </p:cNvCxnSpPr>
          <p:nvPr/>
        </p:nvCxnSpPr>
        <p:spPr>
          <a:xfrm rot="5400000" flipH="1" flipV="1">
            <a:off x="4093954" y="2890701"/>
            <a:ext cx="1804151" cy="2991155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00" name="구부러진 연결선 99"/>
          <p:cNvCxnSpPr>
            <a:stCxn id="12" idx="0"/>
            <a:endCxn id="6" idx="1"/>
          </p:cNvCxnSpPr>
          <p:nvPr/>
        </p:nvCxnSpPr>
        <p:spPr>
          <a:xfrm rot="16200000" flipV="1">
            <a:off x="1642346" y="3430246"/>
            <a:ext cx="1848527" cy="1867687"/>
          </a:xfrm>
          <a:prstGeom prst="curvedConnector4">
            <a:avLst>
              <a:gd name="adj1" fmla="val 44157"/>
              <a:gd name="adj2" fmla="val 11224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107" name="TextBox 106"/>
          <p:cNvSpPr txBox="1"/>
          <p:nvPr/>
        </p:nvSpPr>
        <p:spPr bwMode="auto">
          <a:xfrm>
            <a:off x="396441" y="3713254"/>
            <a:ext cx="2135521" cy="89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43216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kumimoji="1" lang="en-US" altLang="ko-KR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...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43219,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(&lt;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갯수만큼</a:t>
            </a:r>
            <a:r>
              <a:rPr lang="ko-KR" altLang="en-US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실행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= 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false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 bwMode="auto">
          <a:xfrm>
            <a:off x="2916721" y="4724302"/>
            <a:ext cx="130035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kern="0" dirty="0" err="1" smtClean="0">
                <a:solidFill>
                  <a:schemeClr val="tx1"/>
                </a:solidFill>
              </a:rPr>
              <a:t>데몬을</a:t>
            </a:r>
            <a:r>
              <a:rPr lang="ko-KR" altLang="en-US" kern="0" dirty="0" smtClean="0">
                <a:solidFill>
                  <a:schemeClr val="tx1"/>
                </a:solidFill>
              </a:rPr>
              <a:t> 통한 장비접속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764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2019/03/04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51614" y="144388"/>
            <a:ext cx="5607099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xxx.42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TACTDaemon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DamonConfig.xml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&gt;43214&lt;/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LauncherPort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 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40021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사용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방화벽 허용포트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1000" kern="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RACS_Daemon_Launcher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43216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DaemonPort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사용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방화벽 허용포트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1000" kern="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false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true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endParaRPr lang="en-US" altLang="ko-KR" sz="1000" kern="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&gt;40009&lt;/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5758713" y="144388"/>
            <a:ext cx="5465407" cy="32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xxx.41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&gt;118.217.79.11,43218&lt;/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FACT_MAIN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sa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&lt;Password&gt;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factskB~2012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&lt;/Password&gt;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DefaultDaemonRunCount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DefaultDaemonRunCount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&gt;23451&lt;/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RemoteServiceManager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ReloadHour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ReloadHour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ReloadMinute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ReloadMinute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&gt;118.217.79.23,&lt;/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51614" y="3060712"/>
            <a:ext cx="4968552" cy="228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TACTRestartService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1)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CheckIntervalSeconds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&gt;15&lt;/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CheckIntervalSeconds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</a:t>
            </a:r>
            <a:r>
              <a:rPr lang="en-US" altLang="ko-KR" sz="1000" b="1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ServiceList.xml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서비스 감시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및 </a:t>
            </a:r>
            <a:r>
              <a:rPr lang="ko-KR" altLang="en-US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중지시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자동재시작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TACTServiceList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TACT_KeepAliveServer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ProcessName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TACTKeepAliveServerService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ProcessName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&lt;Description&gt;TACT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LTE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 Keep-Alive Server&lt;/Description&gt;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TACTServiceList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5761038" y="3420752"/>
            <a:ext cx="5465407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TACTKeepAlive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&gt;118.217.79.11,43218&lt;/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FACT_MAIN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sa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&lt;Password&gt;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factskB~2012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&lt;/Password&gt;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&gt;40009&lt;/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catm1.skbroadband.com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f_v2010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!&lt;/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SSHPassword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nov@201811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SSHPassword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SSHTunnelPortRange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&gt;40101,40300&lt;/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SSHTunnelPortRange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SSHTunnelUseTimeoutSeconds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&gt;600&lt;/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SSHTunnelUseTimeoutSeconds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SSHTunnelMaxSession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SSHTunnelMaxSession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KeepAliveBase64Encode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&gt;true&lt;/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KeepAliveBase64Encode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DaemonRequestTimeoutSeconds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DaemonRequestTimeoutSeconds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9145413" y="3901232"/>
            <a:ext cx="1361360" cy="479160"/>
          </a:xfrm>
          <a:prstGeom prst="wedgeRoundRectCallout">
            <a:avLst>
              <a:gd name="adj1" fmla="val -143143"/>
              <a:gd name="adj2" fmla="val 377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RPCS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장비에서 주기적으로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Keep-Alive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메시지 수신 </a:t>
            </a: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UDP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포트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9325433" y="5256956"/>
            <a:ext cx="1008112" cy="335144"/>
          </a:xfrm>
          <a:prstGeom prst="wedgeRoundRectCallout">
            <a:avLst>
              <a:gd name="adj1" fmla="val -143143"/>
              <a:gd name="adj2" fmla="val 377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데몬과</a:t>
            </a:r>
            <a:r>
              <a:rPr lang="ko-KR" altLang="en-US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 통신채널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5905053" y="5628104"/>
            <a:ext cx="5321392" cy="81698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 eaLnBrk="0" hangingPunct="0">
              <a:spcBef>
                <a:spcPct val="20000"/>
              </a:spcBef>
              <a:buSzPct val="70000"/>
            </a:pPr>
            <a:r>
              <a:rPr lang="en-US" altLang="ko-KR" b="1" dirty="0" err="1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MS Shell Dlg 2" pitchFamily="34" charset="0"/>
              </a:rPr>
              <a:t>SSH</a:t>
            </a:r>
            <a:r>
              <a:rPr lang="ko-KR" altLang="en-US" b="1" dirty="0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MS Shell Dlg 2" pitchFamily="34" charset="0"/>
              </a:rPr>
              <a:t>터널 접속정보</a:t>
            </a:r>
            <a:endParaRPr lang="ko-KR" altLang="en-US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  <a:cs typeface="MS Shell Dlg 2" pitchFamily="34" charset="0"/>
            </a:endParaRPr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10189530" y="6217956"/>
            <a:ext cx="1274541" cy="335144"/>
          </a:xfrm>
          <a:prstGeom prst="wedgeRoundRectCallout">
            <a:avLst>
              <a:gd name="adj1" fmla="val -67099"/>
              <a:gd name="adj2" fmla="val 40582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미사용터널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 판단용 타임아웃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10189530" y="6602476"/>
            <a:ext cx="1274542" cy="490684"/>
          </a:xfrm>
          <a:prstGeom prst="wedgeRoundRectCallout">
            <a:avLst>
              <a:gd name="adj1" fmla="val -151155"/>
              <a:gd name="adj2" fmla="val -42130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SSH</a:t>
            </a: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터널당 </a:t>
            </a: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최대 접속 </a:t>
            </a:r>
            <a:r>
              <a:rPr kumimoji="0" lang="ko-KR" altLang="en-US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세션수</a:t>
            </a:r>
            <a:r>
              <a:rPr kumimoji="0" lang="en-US" altLang="ko-KR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(</a:t>
            </a: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동일 사용자의 중복 접속 허용</a:t>
            </a:r>
            <a:r>
              <a:rPr kumimoji="0" lang="en-US" altLang="ko-KR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)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5" name="모서리가 둥근 사각형 설명선 14"/>
          <p:cNvSpPr/>
          <p:nvPr/>
        </p:nvSpPr>
        <p:spPr>
          <a:xfrm>
            <a:off x="4320877" y="6229064"/>
            <a:ext cx="1274541" cy="446076"/>
          </a:xfrm>
          <a:prstGeom prst="wedgeRoundRectCallout">
            <a:avLst>
              <a:gd name="adj1" fmla="val 79377"/>
              <a:gd name="adj2" fmla="val 77498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Keep-Alive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메시지 내용</a:t>
            </a: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(body)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의 </a:t>
            </a:r>
            <a:r>
              <a:rPr kumimoji="0" lang="en-US" altLang="ko-KR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Base64</a:t>
            </a: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</a:t>
            </a:r>
            <a:r>
              <a:rPr kumimoji="0" lang="ko-KR" altLang="en-US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인코딩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여부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4320876" y="6747148"/>
            <a:ext cx="1274541" cy="446076"/>
          </a:xfrm>
          <a:prstGeom prst="wedgeRoundRectCallout">
            <a:avLst>
              <a:gd name="adj1" fmla="val 78630"/>
              <a:gd name="adj2" fmla="val 2764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데몬의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접속요청에 대한 처리 타임아웃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7" name="모서리가 둥근 사각형 설명선 16"/>
          <p:cNvSpPr/>
          <p:nvPr/>
        </p:nvSpPr>
        <p:spPr>
          <a:xfrm>
            <a:off x="3960837" y="3959273"/>
            <a:ext cx="1401995" cy="490684"/>
          </a:xfrm>
          <a:prstGeom prst="wedgeRoundRectCallout">
            <a:avLst>
              <a:gd name="adj1" fmla="val -65465"/>
              <a:gd name="adj2" fmla="val 50876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&lt;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TACTService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세트를 </a:t>
            </a:r>
            <a:r>
              <a:rPr lang="ko-KR" altLang="en-US" kern="0" dirty="0" err="1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여러개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추가 가능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8" name="모서리가 둥근 사각형 설명선 17"/>
          <p:cNvSpPr/>
          <p:nvPr/>
        </p:nvSpPr>
        <p:spPr>
          <a:xfrm>
            <a:off x="3672805" y="3276930"/>
            <a:ext cx="1401995" cy="335144"/>
          </a:xfrm>
          <a:prstGeom prst="wedgeRoundRectCallout">
            <a:avLst>
              <a:gd name="adj1" fmla="val -65465"/>
              <a:gd name="adj2" fmla="val 50876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서비스 상태 체크 주기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3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/>
          <p:cNvSpPr/>
          <p:nvPr/>
        </p:nvSpPr>
        <p:spPr bwMode="auto">
          <a:xfrm>
            <a:off x="1765933" y="3960814"/>
            <a:ext cx="4704366" cy="190368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2667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prstClr val="black"/>
                </a:solidFill>
                <a:latin typeface="맑은 고딕"/>
              </a:rPr>
              <a:t>FACT </a:t>
            </a:r>
            <a:r>
              <a:rPr kumimoji="0" lang="en-US" altLang="ko-KR" sz="1000" dirty="0" err="1" smtClean="0">
                <a:solidFill>
                  <a:prstClr val="black"/>
                </a:solidFill>
                <a:latin typeface="맑은 고딕"/>
              </a:rPr>
              <a:t>KAM</a:t>
            </a:r>
            <a:r>
              <a:rPr kumimoji="0" lang="en-US" altLang="ko-KR" sz="1000" dirty="0" smtClean="0">
                <a:solidFill>
                  <a:prstClr val="black"/>
                </a:solidFill>
                <a:latin typeface="맑은 고딕"/>
              </a:rPr>
              <a:t> </a:t>
            </a:r>
            <a:r>
              <a:rPr kumimoji="0" lang="ko-KR" altLang="en-US" sz="1000" dirty="0" smtClean="0">
                <a:solidFill>
                  <a:prstClr val="black"/>
                </a:solidFill>
                <a:latin typeface="맑은 고딕"/>
              </a:rPr>
              <a:t>서버</a:t>
            </a:r>
            <a:endParaRPr kumimoji="0" lang="en-US" altLang="ko-KR" sz="1000" dirty="0">
              <a:solidFill>
                <a:prstClr val="black"/>
              </a:solidFill>
              <a:latin typeface="맑은 고딕"/>
            </a:endParaRPr>
          </a:p>
          <a:p>
            <a:pPr marL="2667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</a:rPr>
              <a:t>118.217.79.23</a:t>
            </a:r>
            <a:endParaRPr kumimoji="0" lang="en-US" altLang="ko-KR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18</a:t>
            </a:r>
            <a:r>
              <a:rPr lang="ko-KR" altLang="en-US" dirty="0" smtClean="0"/>
              <a:t>고도화</a:t>
            </a:r>
            <a:r>
              <a:rPr lang="en-US" altLang="ko-KR" dirty="0" smtClean="0"/>
              <a:t>(c-</a:t>
            </a:r>
            <a:r>
              <a:rPr lang="en-US" altLang="ko-KR" dirty="0" err="1" smtClean="0"/>
              <a:t>RPCS</a:t>
            </a:r>
            <a:r>
              <a:rPr lang="en-US" altLang="ko-KR" dirty="0" smtClean="0"/>
              <a:t> </a:t>
            </a:r>
            <a:r>
              <a:rPr lang="ko-KR" altLang="en-US" dirty="0" smtClean="0"/>
              <a:t>원격접속기능</a:t>
            </a:r>
            <a:r>
              <a:rPr lang="en-US" altLang="ko-KR" dirty="0" smtClean="0"/>
              <a:t>) / </a:t>
            </a:r>
            <a:r>
              <a:rPr lang="en-US" altLang="ko-KR" dirty="0" err="1" smtClean="0"/>
              <a:t>RPCS</a:t>
            </a:r>
            <a:r>
              <a:rPr lang="ko-KR" altLang="en-US" dirty="0"/>
              <a:t>에</a:t>
            </a:r>
            <a:r>
              <a:rPr lang="ko-KR" altLang="en-US" dirty="0" smtClean="0"/>
              <a:t> 원격접속 흐름도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2019/02/15</a:t>
            </a:r>
            <a:endParaRPr lang="ko-KR" altLang="en-US" dirty="0"/>
          </a:p>
        </p:txBody>
      </p:sp>
      <p:grpSp>
        <p:nvGrpSpPr>
          <p:cNvPr id="4" name="그룹 3"/>
          <p:cNvGrpSpPr>
            <a:grpSpLocks/>
          </p:cNvGrpSpPr>
          <p:nvPr/>
        </p:nvGrpSpPr>
        <p:grpSpPr bwMode="auto">
          <a:xfrm>
            <a:off x="1515320" y="1764161"/>
            <a:ext cx="936625" cy="874712"/>
            <a:chOff x="6372002" y="2985779"/>
            <a:chExt cx="936302" cy="875269"/>
          </a:xfrm>
        </p:grpSpPr>
        <p:pic>
          <p:nvPicPr>
            <p:cNvPr id="5" name="그림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2528" y="2985779"/>
              <a:ext cx="469751" cy="547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21"/>
            <p:cNvSpPr txBox="1">
              <a:spLocks noChangeArrowheads="1"/>
            </p:cNvSpPr>
            <p:nvPr/>
          </p:nvSpPr>
          <p:spPr bwMode="gray">
            <a:xfrm>
              <a:off x="6372002" y="3460744"/>
              <a:ext cx="936302" cy="40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운영자</a:t>
              </a:r>
              <a:r>
                <a:rPr kumimoji="0" lang="en-US" altLang="ko-KR" sz="1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(Web/Client)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31E7779-8D0E-43DE-A342-AC3EDB36EBD3}"/>
              </a:ext>
            </a:extLst>
          </p:cNvPr>
          <p:cNvGrpSpPr/>
          <p:nvPr/>
        </p:nvGrpSpPr>
        <p:grpSpPr>
          <a:xfrm>
            <a:off x="4978006" y="1643464"/>
            <a:ext cx="772648" cy="801893"/>
            <a:chOff x="4066061" y="1667624"/>
            <a:chExt cx="772648" cy="801893"/>
          </a:xfrm>
        </p:grpSpPr>
        <p:pic>
          <p:nvPicPr>
            <p:cNvPr id="11" name="Picture 11" descr="C:\Users\ecoffey\AppData\Local\Temp\Rar$DRa0.807\30035_Device_ibm_mainframe_default_64.png">
              <a:extLst>
                <a:ext uri="{FF2B5EF4-FFF2-40B4-BE49-F238E27FC236}">
                  <a16:creationId xmlns:a16="http://schemas.microsoft.com/office/drawing/2014/main" xmlns="" id="{A74D8046-717C-4BA3-BF02-F9D4E49AD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8542" y="1981837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제목 1">
              <a:extLst>
                <a:ext uri="{FF2B5EF4-FFF2-40B4-BE49-F238E27FC236}">
                  <a16:creationId xmlns:a16="http://schemas.microsoft.com/office/drawing/2014/main" xmlns="" id="{19CBB4BA-7F68-4659-B414-EB53558D975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66061" y="1667624"/>
              <a:ext cx="772648" cy="292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00" dirty="0" smtClean="0">
                  <a:solidFill>
                    <a:prstClr val="black"/>
                  </a:solidFill>
                  <a:latin typeface="맑은 고딕"/>
                </a:rPr>
                <a:t>TACT </a:t>
              </a:r>
              <a:r>
                <a:rPr kumimoji="0" lang="ko-KR" altLang="en-US" sz="1000" dirty="0" smtClean="0">
                  <a:solidFill>
                    <a:prstClr val="black"/>
                  </a:solidFill>
                  <a:latin typeface="맑은 고딕"/>
                </a:rPr>
                <a:t>서버</a:t>
              </a:r>
              <a:endParaRPr kumimoji="0" lang="en-US" altLang="ko-KR" sz="1000" dirty="0" smtClean="0">
                <a:solidFill>
                  <a:prstClr val="black"/>
                </a:solidFill>
                <a:latin typeface="맑은 고딕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900" dirty="0" smtClean="0">
                  <a:solidFill>
                    <a:prstClr val="black"/>
                  </a:solidFill>
                  <a:latin typeface="굴림" pitchFamily="50" charset="-127"/>
                  <a:ea typeface="굴림" pitchFamily="50" charset="-127"/>
                </a:rPr>
                <a:t>118.217.79.41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D3B277E5-75A7-41A1-953D-8F206B88759B}"/>
              </a:ext>
            </a:extLst>
          </p:cNvPr>
          <p:cNvGrpSpPr/>
          <p:nvPr/>
        </p:nvGrpSpPr>
        <p:grpSpPr>
          <a:xfrm>
            <a:off x="8783649" y="5127633"/>
            <a:ext cx="487680" cy="604029"/>
            <a:chOff x="6122359" y="5233275"/>
            <a:chExt cx="487680" cy="604029"/>
          </a:xfrm>
        </p:grpSpPr>
        <p:pic>
          <p:nvPicPr>
            <p:cNvPr id="17" name="Picture 11" descr="C:\Users\ecoffey\AppData\Local\Temp\Rar$DRa0.200\30050_Device_nexus5000_default_64.png">
              <a:extLst>
                <a:ext uri="{FF2B5EF4-FFF2-40B4-BE49-F238E27FC236}">
                  <a16:creationId xmlns:a16="http://schemas.microsoft.com/office/drawing/2014/main" xmlns="" id="{1F48474A-EC35-49F6-8026-9E94494B44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2359" y="5349624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제목 1">
              <a:extLst>
                <a:ext uri="{FF2B5EF4-FFF2-40B4-BE49-F238E27FC236}">
                  <a16:creationId xmlns:a16="http://schemas.microsoft.com/office/drawing/2014/main" xmlns="" id="{5FA3074F-AC7D-4485-95C7-D31B02EF2F8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150596" y="5233275"/>
              <a:ext cx="431208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00" dirty="0">
                  <a:solidFill>
                    <a:prstClr val="black"/>
                  </a:solidFill>
                  <a:latin typeface="맑은 고딕"/>
                </a:rPr>
                <a:t>c-RPCS</a:t>
              </a: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2465662" y="2120849"/>
            <a:ext cx="2461578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3429907" y="4408110"/>
            <a:ext cx="1693497" cy="16629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28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2740897" y="1943547"/>
            <a:ext cx="166231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1) [</a:t>
            </a:r>
            <a:r>
              <a:rPr kumimoji="0" lang="en-US" sz="1000" dirty="0" err="1" smtClean="0">
                <a:solidFill>
                  <a:srgbClr val="0000FF"/>
                </a:solidFill>
                <a:latin typeface="맑은 고딕"/>
              </a:rPr>
              <a:t>Req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] </a:t>
            </a:r>
            <a:r>
              <a:rPr kumimoji="0" lang="en-US" sz="1000" dirty="0" err="1" smtClean="0">
                <a:solidFill>
                  <a:srgbClr val="0000FF"/>
                </a:solidFill>
                <a:latin typeface="맑은 고딕"/>
              </a:rPr>
              <a:t>RPCS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맑은 고딕"/>
              </a:rPr>
              <a:t>장비장속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 요청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 rot="325520">
            <a:off x="3553624" y="4291615"/>
            <a:ext cx="1500411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2)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터널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생성 요청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(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장비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IP)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6061163" y="4652314"/>
            <a:ext cx="2722486" cy="66573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36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6372575" y="4506781"/>
            <a:ext cx="308257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3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터널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생성 요청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(</a:t>
            </a:r>
            <a:r>
              <a:rPr kumimoji="0" lang="en-US" altLang="ko-KR" sz="1000" dirty="0" err="1" smtClean="0">
                <a:solidFill>
                  <a:srgbClr val="0000FF"/>
                </a:solidFill>
                <a:latin typeface="맑은 고딕"/>
              </a:rPr>
              <a:t>KAM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 replay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이용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,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맑은 고딕"/>
              </a:rPr>
              <a:t>터널링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 포트 전</a:t>
            </a:r>
            <a:r>
              <a:rPr kumimoji="0" lang="ko-KR" altLang="en-US" sz="1000" dirty="0">
                <a:solidFill>
                  <a:srgbClr val="0000FF"/>
                </a:solidFill>
                <a:latin typeface="맑은 고딕"/>
              </a:rPr>
              <a:t>달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</a:t>
            </a:r>
          </a:p>
        </p:txBody>
      </p:sp>
      <p:sp>
        <p:nvSpPr>
          <p:cNvPr id="43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1986672" y="4865324"/>
            <a:ext cx="20422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7)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텔넷 연결 </a:t>
            </a:r>
            <a:endParaRPr kumimoji="0" lang="en-US" altLang="ko-KR" sz="1000" dirty="0" smtClean="0">
              <a:solidFill>
                <a:srgbClr val="0000FF"/>
              </a:solidFill>
              <a:latin typeface="맑은 고딕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latin typeface="맑은 고딕"/>
              </a:rPr>
              <a:t>    telnet </a:t>
            </a:r>
            <a:r>
              <a:rPr kumimoji="0" lang="en-US" altLang="ko-KR" sz="1000" dirty="0" err="1" smtClean="0">
                <a:latin typeface="맑은 고딕"/>
              </a:rPr>
              <a:t>localhost:40101</a:t>
            </a:r>
            <a:endParaRPr kumimoji="0" lang="en-US" altLang="ko-KR" sz="1000" dirty="0" smtClean="0">
              <a:latin typeface="맑은 고딕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8) </a:t>
            </a: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TACT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Client~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장비간 메시지 중계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sp>
        <p:nvSpPr>
          <p:cNvPr id="20" name="원호 19"/>
          <p:cNvSpPr/>
          <p:nvPr/>
        </p:nvSpPr>
        <p:spPr>
          <a:xfrm rot="4611736" flipH="1">
            <a:off x="5861102" y="4765853"/>
            <a:ext cx="385668" cy="381221"/>
          </a:xfrm>
          <a:prstGeom prst="arc">
            <a:avLst>
              <a:gd name="adj1" fmla="val 3245749"/>
              <a:gd name="adj2" fmla="val 2055764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5123404" y="4513076"/>
            <a:ext cx="937759" cy="3522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KAM</a:t>
            </a:r>
            <a:r>
              <a:rPr lang="ko-KR" altLang="en-US" sz="1050" b="1" dirty="0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서버</a:t>
            </a:r>
            <a:endParaRPr kumimoji="1" lang="ko-KR" alt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54" name="모서리가 둥근 직사각형 53"/>
          <p:cNvSpPr/>
          <p:nvPr/>
        </p:nvSpPr>
        <p:spPr bwMode="auto">
          <a:xfrm>
            <a:off x="2321646" y="4300066"/>
            <a:ext cx="1108261" cy="3522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Arials"/>
              </a:rPr>
              <a:t>TACT</a:t>
            </a:r>
            <a:r>
              <a:rPr kumimoji="1" lang="ko-KR" altLang="en-US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Arials"/>
              </a:rPr>
              <a:t>데몬</a:t>
            </a:r>
            <a:r>
              <a:rPr kumimoji="1" lang="en-US" altLang="ko-K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Arials"/>
              </a:rPr>
              <a:t>#n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 flipH="1">
            <a:off x="2465662" y="2207935"/>
            <a:ext cx="2474706" cy="322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68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5835510" y="5164162"/>
            <a:ext cx="126957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5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터널포</a:t>
            </a:r>
            <a:r>
              <a:rPr kumimoji="0" lang="ko-KR" altLang="en-US" sz="1000" dirty="0">
                <a:solidFill>
                  <a:srgbClr val="0000FF"/>
                </a:solidFill>
                <a:latin typeface="맑은 고딕"/>
              </a:rPr>
              <a:t>트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 생성 감지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 flipH="1" flipV="1">
            <a:off x="3429907" y="4519986"/>
            <a:ext cx="1690581" cy="17612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78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 rot="344421">
            <a:off x="3613205" y="4640393"/>
            <a:ext cx="132728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6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 2)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의 응답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(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터널 포트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sp>
        <p:nvSpPr>
          <p:cNvPr id="85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2740897" y="2237966"/>
            <a:ext cx="181299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>
                <a:solidFill>
                  <a:srgbClr val="0000FF"/>
                </a:solidFill>
                <a:latin typeface="맑은 고딕"/>
              </a:rPr>
              <a:t>2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) [Res]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맑은 고딕"/>
              </a:rPr>
              <a:t>데몬할당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/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장비접속 정보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2321646" y="2535870"/>
            <a:ext cx="419251" cy="176419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91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 rot="4571760">
            <a:off x="2043571" y="3269853"/>
            <a:ext cx="131606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3) </a:t>
            </a:r>
            <a:r>
              <a:rPr kumimoji="0" lang="en-US" sz="1000" dirty="0" err="1" smtClean="0">
                <a:solidFill>
                  <a:srgbClr val="0000FF"/>
                </a:solidFill>
                <a:latin typeface="맑은 고딕"/>
              </a:rPr>
              <a:t>RPCS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맑은 고딕"/>
              </a:rPr>
              <a:t>장비장속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 요청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pic>
        <p:nvPicPr>
          <p:cNvPr id="96" name="Picture 11" descr="C:\Users\ecoffey\AppData\Local\Temp\Rar$DRa0.807\30035_Device_ibm_mainframe_default_64.png">
            <a:extLst>
              <a:ext uri="{FF2B5EF4-FFF2-40B4-BE49-F238E27FC236}">
                <a16:creationId xmlns:a16="http://schemas.microsoft.com/office/drawing/2014/main" xmlns="" id="{A74D8046-717C-4BA3-BF02-F9D4E49AD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942" y="5429648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모서리가 둥근 사각형 설명선 97"/>
          <p:cNvSpPr/>
          <p:nvPr/>
        </p:nvSpPr>
        <p:spPr bwMode="auto">
          <a:xfrm>
            <a:off x="7340568" y="3709757"/>
            <a:ext cx="3329641" cy="455008"/>
          </a:xfrm>
          <a:prstGeom prst="wedgeRoundRectCallout">
            <a:avLst>
              <a:gd name="adj1" fmla="val -41971"/>
              <a:gd name="adj2" fmla="val 101516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+mn-ea"/>
                <a:cs typeface="Arials"/>
              </a:rPr>
              <a:t>터널이 생성되면 </a:t>
            </a:r>
            <a:r>
              <a:rPr lang="en-US" altLang="ko-KR" sz="1000" dirty="0" err="1">
                <a:solidFill>
                  <a:schemeClr val="tx1"/>
                </a:solidFill>
                <a:latin typeface="+mn-ea"/>
                <a:cs typeface="Arials"/>
              </a:rPr>
              <a:t>SSH</a:t>
            </a:r>
            <a:r>
              <a:rPr lang="en-US" altLang="ko-KR" sz="1000" dirty="0">
                <a:solidFill>
                  <a:schemeClr val="tx1"/>
                </a:solidFill>
                <a:latin typeface="+mn-ea"/>
                <a:cs typeface="Arials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s"/>
              </a:rPr>
              <a:t>접속은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  <a:cs typeface="Arials"/>
              </a:rPr>
              <a:t>종료</a:t>
            </a:r>
            <a:endParaRPr lang="en-US" altLang="ko-KR" sz="1000" dirty="0" smtClean="0">
              <a:solidFill>
                <a:schemeClr val="tx1"/>
              </a:solidFill>
              <a:latin typeface="+mn-ea"/>
              <a:cs typeface="Arials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 err="1" smtClean="0">
                <a:solidFill>
                  <a:schemeClr val="tx1"/>
                </a:solidFill>
                <a:latin typeface="+mn-ea"/>
                <a:cs typeface="Arials"/>
              </a:rPr>
              <a:t>터널링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  <a:cs typeface="Arials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s"/>
              </a:rPr>
              <a:t>포트는 사용자가 텔넷 접속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  <a:cs typeface="Arials"/>
              </a:rPr>
              <a:t>종료시</a:t>
            </a:r>
            <a:r>
              <a:rPr lang="ko-KR" altLang="en-US" sz="1000" dirty="0">
                <a:solidFill>
                  <a:schemeClr val="tx1"/>
                </a:solidFill>
                <a:latin typeface="+mn-ea"/>
                <a:cs typeface="Arials"/>
              </a:rPr>
              <a:t> 까지 </a:t>
            </a:r>
            <a:r>
              <a:rPr lang="ko-KR" altLang="en-US" sz="1000" dirty="0" smtClean="0">
                <a:solidFill>
                  <a:schemeClr val="tx1"/>
                </a:solidFill>
                <a:latin typeface="+mn-ea"/>
                <a:cs typeface="Arials"/>
              </a:rPr>
              <a:t>유지</a:t>
            </a:r>
            <a:endParaRPr lang="en-US" altLang="ko-KR" sz="100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113" name="직사각형 112"/>
          <p:cNvSpPr/>
          <p:nvPr/>
        </p:nvSpPr>
        <p:spPr bwMode="auto">
          <a:xfrm>
            <a:off x="238816" y="768044"/>
            <a:ext cx="3312000" cy="252000"/>
          </a:xfrm>
          <a:prstGeom prst="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s"/>
              </a:rPr>
              <a:t>※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s"/>
              </a:rPr>
              <a:t>기존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s"/>
              </a:rPr>
              <a:t> TACT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s"/>
              </a:rPr>
              <a:t>장비접속은 </a:t>
            </a:r>
            <a:r>
              <a:rPr lang="en-US" altLang="ko-KR" sz="1050" dirty="0" smtClean="0">
                <a:solidFill>
                  <a:schemeClr val="tx1"/>
                </a:solidFill>
                <a:latin typeface="+mn-ea"/>
                <a:cs typeface="Arials"/>
              </a:rPr>
              <a:t>2) ~ 5) </a:t>
            </a:r>
            <a:r>
              <a:rPr lang="ko-KR" altLang="en-US" sz="1050" dirty="0" smtClean="0">
                <a:solidFill>
                  <a:schemeClr val="tx1"/>
                </a:solidFill>
                <a:latin typeface="+mn-ea"/>
                <a:cs typeface="Arials"/>
              </a:rPr>
              <a:t>생략한 과정과 동일</a:t>
            </a:r>
            <a:endParaRPr lang="en-US" altLang="ko-KR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049838" y="5281521"/>
            <a:ext cx="1044000" cy="396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SSH</a:t>
            </a:r>
            <a:r>
              <a:rPr lang="en-US" altLang="ko-KR" sz="1050" b="1" dirty="0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 Sever</a:t>
            </a:r>
            <a:endParaRPr kumimoji="1" lang="ko-KR" alt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>
            <a:stCxn id="17" idx="1"/>
            <a:endCxn id="45" idx="3"/>
          </p:cNvCxnSpPr>
          <p:nvPr/>
        </p:nvCxnSpPr>
        <p:spPr>
          <a:xfrm flipH="1" flipV="1">
            <a:off x="5093838" y="5479521"/>
            <a:ext cx="3689811" cy="830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  <a:tailEnd type="triangle"/>
          </a:ln>
          <a:effectLst/>
        </p:spPr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2177674" y="2607878"/>
            <a:ext cx="396000" cy="1656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56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5113347" y="5504457"/>
            <a:ext cx="39770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4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맑은 고딕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터널생성</a:t>
            </a:r>
            <a:r>
              <a:rPr kumimoji="0" lang="en-US" altLang="ko-KR" sz="1000" dirty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요청</a:t>
            </a:r>
            <a:endParaRPr kumimoji="0" lang="en-US" altLang="ko-KR" sz="1000" dirty="0" smtClean="0">
              <a:solidFill>
                <a:srgbClr val="0000FF"/>
              </a:solidFill>
              <a:latin typeface="맑은 고딕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latin typeface="맑은 고딕"/>
              </a:rPr>
              <a:t>(</a:t>
            </a:r>
            <a:r>
              <a:rPr kumimoji="0" lang="en-US" altLang="ko-KR" sz="1000" dirty="0" err="1">
                <a:latin typeface="맑은 고딕"/>
              </a:rPr>
              <a:t>ssh</a:t>
            </a:r>
            <a:r>
              <a:rPr kumimoji="0" lang="en-US" altLang="ko-KR" sz="1000" dirty="0">
                <a:latin typeface="맑은 고딕"/>
              </a:rPr>
              <a:t> -R </a:t>
            </a:r>
            <a:r>
              <a:rPr kumimoji="0" lang="en-US" altLang="ko-KR" sz="1000" dirty="0" err="1">
                <a:latin typeface="맑은 고딕"/>
              </a:rPr>
              <a:t>40003:localhost:23</a:t>
            </a:r>
            <a:r>
              <a:rPr kumimoji="0" lang="en-US" altLang="ko-KR" sz="1000" dirty="0">
                <a:latin typeface="맑은 고딕"/>
              </a:rPr>
              <a:t> </a:t>
            </a:r>
            <a:r>
              <a:rPr kumimoji="0" lang="en-US" altLang="ko-KR" sz="1000" dirty="0" err="1">
                <a:latin typeface="맑은 고딕"/>
              </a:rPr>
              <a:t>user@catm1.skbroadband.com</a:t>
            </a:r>
            <a:r>
              <a:rPr kumimoji="0" lang="en-US" altLang="ko-KR" sz="1000" dirty="0">
                <a:latin typeface="맑은 고딕"/>
              </a:rPr>
              <a:t> –p </a:t>
            </a:r>
            <a:r>
              <a:rPr kumimoji="0" lang="en-US" altLang="ko-KR" sz="1000" dirty="0" smtClean="0">
                <a:latin typeface="맑은 고딕"/>
              </a:rPr>
              <a:t>40101)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sp>
        <p:nvSpPr>
          <p:cNvPr id="40" name="원통 39"/>
          <p:cNvSpPr/>
          <p:nvPr/>
        </p:nvSpPr>
        <p:spPr bwMode="auto">
          <a:xfrm rot="17181880">
            <a:off x="4130366" y="5003015"/>
            <a:ext cx="288000" cy="1836000"/>
          </a:xfrm>
          <a:prstGeom prst="can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r>
              <a:rPr lang="en-US" altLang="ko-KR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loaclhost:40101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~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장비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23</a:t>
            </a:r>
            <a:endParaRPr lang="ko-KR" altLang="en-US" sz="1000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60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 rot="4571760">
            <a:off x="1557328" y="3341023"/>
            <a:ext cx="131606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3) </a:t>
            </a:r>
            <a:r>
              <a:rPr kumimoji="0" lang="en-US" sz="1000" dirty="0" err="1" smtClean="0">
                <a:solidFill>
                  <a:srgbClr val="0000FF"/>
                </a:solidFill>
                <a:latin typeface="맑은 고딕"/>
              </a:rPr>
              <a:t>RPCS</a:t>
            </a:r>
            <a:r>
              <a:rPr kumimoji="0" lang="en-US" sz="1000" dirty="0" smtClean="0">
                <a:solidFill>
                  <a:srgbClr val="0000FF"/>
                </a:solidFill>
                <a:latin typeface="맑은 고딕"/>
              </a:rPr>
              <a:t>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맑은 고딕"/>
              </a:rPr>
              <a:t>장비장속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맑은 고딕"/>
              </a:rPr>
              <a:t> 요청</a:t>
            </a:r>
            <a:endParaRPr kumimoji="0" lang="en-US" sz="1000" dirty="0">
              <a:solidFill>
                <a:srgbClr val="0000FF"/>
              </a:solidFill>
              <a:latin typeface="맑은 고딕"/>
            </a:endParaRPr>
          </a:p>
        </p:txBody>
      </p:sp>
      <p:cxnSp>
        <p:nvCxnSpPr>
          <p:cNvPr id="62" name="구부러진 연결선 61"/>
          <p:cNvCxnSpPr>
            <a:stCxn id="17" idx="2"/>
            <a:endCxn id="40" idx="3"/>
          </p:cNvCxnSpPr>
          <p:nvPr/>
        </p:nvCxnSpPr>
        <p:spPr>
          <a:xfrm rot="5400000">
            <a:off x="6867334" y="4019505"/>
            <a:ext cx="447999" cy="3872313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triangle"/>
            <a:tailEnd type="triangle"/>
          </a:ln>
          <a:effectLst/>
        </p:spPr>
      </p:cxnSp>
      <p:cxnSp>
        <p:nvCxnSpPr>
          <p:cNvPr id="66" name="구부러진 연결선 65"/>
          <p:cNvCxnSpPr>
            <a:stCxn id="40" idx="1"/>
            <a:endCxn id="54" idx="2"/>
          </p:cNvCxnSpPr>
          <p:nvPr/>
        </p:nvCxnSpPr>
        <p:spPr>
          <a:xfrm rot="10800000">
            <a:off x="2875778" y="4652315"/>
            <a:ext cx="517779" cy="1010055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triangl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7844990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1">
      <a:majorFont>
        <a:latin typeface="Moebius"/>
        <a:ea typeface="맑은 고딕"/>
        <a:cs typeface=""/>
      </a:majorFont>
      <a:minorFont>
        <a:latin typeface="Moebius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2700">
          <a:headEnd type="none" w="med" len="med"/>
          <a:tailEnd type="none" w="med" len="med"/>
        </a:ln>
      </a:spPr>
      <a:bodyPr vert="horz" wrap="none" lIns="36000" tIns="36000" rIns="36000" bIns="36000" numCol="1" rtlCol="0" anchor="t" anchorCtr="0" compatLnSpc="1">
        <a:prstTxWarp prst="textNoShape">
          <a:avLst/>
        </a:prstTxWarp>
        <a:spAutoFit/>
      </a:bodyPr>
      <a:lstStyle>
        <a:defPPr eaLnBrk="0" hangingPunct="0">
          <a:spcBef>
            <a:spcPct val="20000"/>
          </a:spcBef>
          <a:buSzPct val="70000"/>
          <a:defRPr sz="1050" dirty="0" smtClean="0">
            <a:solidFill>
              <a:schemeClr val="tx1"/>
            </a:solidFill>
            <a:latin typeface="+mn-ea"/>
            <a:cs typeface="Arials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noFill/>
        <a:ln w="12700" cap="flat" cmpd="sng" algn="ctr">
          <a:solidFill>
            <a:sysClr val="windowText" lastClr="000000"/>
          </a:solidFill>
          <a:prstDash val="solid"/>
          <a:tailEnd type="triangle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79388" marR="0" indent="-179388" algn="l" defTabSz="914400" rtl="0" eaLnBrk="0" fontAlgn="base" latinLnBrk="1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sz="1000" b="1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629616</TotalTime>
  <Pages>0</Pages>
  <Words>707</Words>
  <Characters>0</Characters>
  <Application>Microsoft Office PowerPoint</Application>
  <PresentationFormat>사용자 지정</PresentationFormat>
  <Lines>0</Lines>
  <Paragraphs>152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1_디자인 사용자 지정</vt:lpstr>
      <vt:lpstr>디자인 사용자 지정</vt:lpstr>
      <vt:lpstr>TACT 원격통신채널 연관도</vt:lpstr>
      <vt:lpstr>PowerPoint 프레젠테이션</vt:lpstr>
      <vt:lpstr>18고도화(c-RPCS 원격접속기능) / RPCS에 원격접속 흐름도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yjlee</dc:creator>
  <cp:lastModifiedBy>byhou</cp:lastModifiedBy>
  <cp:revision>7499</cp:revision>
  <dcterms:modified xsi:type="dcterms:W3CDTF">2019-03-04T02:09:30Z</dcterms:modified>
</cp:coreProperties>
</file>